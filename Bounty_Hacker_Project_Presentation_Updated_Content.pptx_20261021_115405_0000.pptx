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ptos Bold" charset="1" panose="020B0004020202020204"/>
      <p:regular r:id="rId20"/>
    </p:embeddedFont>
    <p:embeddedFont>
      <p:font typeface="Aptos" charset="1" panose="020B0004020202020204"/>
      <p:regular r:id="rId21"/>
    </p:embeddedFont>
    <p:embeddedFont>
      <p:font typeface="Aptos Italics" charset="1" panose="020B000402020209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D19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09631" y="-7153"/>
            <a:ext cx="6095238" cy="10309346"/>
            <a:chOff x="0" y="0"/>
            <a:chExt cx="8126984" cy="13745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6984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8126984">
                  <a:moveTo>
                    <a:pt x="0" y="0"/>
                  </a:moveTo>
                  <a:lnTo>
                    <a:pt x="8126984" y="0"/>
                  </a:lnTo>
                  <a:lnTo>
                    <a:pt x="8126984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162843"/>
            </a:solidFill>
            <a:ln w="14299" cap="sq">
              <a:solidFill>
                <a:srgbClr val="16284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827337" y="1571425"/>
            <a:ext cx="124111" cy="5230454"/>
            <a:chOff x="0" y="0"/>
            <a:chExt cx="165481" cy="69739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5481" cy="6973951"/>
            </a:xfrm>
            <a:custGeom>
              <a:avLst/>
              <a:gdLst/>
              <a:ahLst/>
              <a:cxnLst/>
              <a:rect r="r" b="b" t="t" l="l"/>
              <a:pathLst>
                <a:path h="6973951" w="165481">
                  <a:moveTo>
                    <a:pt x="0" y="0"/>
                  </a:moveTo>
                  <a:lnTo>
                    <a:pt x="165481" y="0"/>
                  </a:lnTo>
                  <a:lnTo>
                    <a:pt x="165481" y="6973951"/>
                  </a:lnTo>
                  <a:lnTo>
                    <a:pt x="0" y="6973951"/>
                  </a:lnTo>
                  <a:close/>
                </a:path>
              </a:pathLst>
            </a:custGeom>
            <a:solidFill>
              <a:srgbClr val="28D2DC"/>
            </a:solid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486219" y="2326396"/>
            <a:ext cx="124111" cy="4887287"/>
            <a:chOff x="0" y="0"/>
            <a:chExt cx="165481" cy="65163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5481" cy="6516370"/>
            </a:xfrm>
            <a:custGeom>
              <a:avLst/>
              <a:gdLst/>
              <a:ahLst/>
              <a:cxnLst/>
              <a:rect r="r" b="b" t="t" l="l"/>
              <a:pathLst>
                <a:path h="6516370" w="165481">
                  <a:moveTo>
                    <a:pt x="0" y="0"/>
                  </a:moveTo>
                  <a:lnTo>
                    <a:pt x="165481" y="0"/>
                  </a:lnTo>
                  <a:lnTo>
                    <a:pt x="165481" y="6516370"/>
                  </a:lnTo>
                  <a:lnTo>
                    <a:pt x="0" y="6516370"/>
                  </a:lnTo>
                  <a:close/>
                </a:path>
              </a:pathLst>
            </a:custGeom>
            <a:solidFill>
              <a:srgbClr val="28D2DC"/>
            </a:solid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4145101" y="3081366"/>
            <a:ext cx="124111" cy="4544120"/>
            <a:chOff x="0" y="0"/>
            <a:chExt cx="165481" cy="60588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5481" cy="6058789"/>
            </a:xfrm>
            <a:custGeom>
              <a:avLst/>
              <a:gdLst/>
              <a:ahLst/>
              <a:cxnLst/>
              <a:rect r="r" b="b" t="t" l="l"/>
              <a:pathLst>
                <a:path h="6058789" w="165481">
                  <a:moveTo>
                    <a:pt x="0" y="0"/>
                  </a:moveTo>
                  <a:lnTo>
                    <a:pt x="165481" y="0"/>
                  </a:lnTo>
                  <a:lnTo>
                    <a:pt x="165481" y="6058789"/>
                  </a:lnTo>
                  <a:lnTo>
                    <a:pt x="0" y="6058789"/>
                  </a:lnTo>
                  <a:close/>
                </a:path>
              </a:pathLst>
            </a:custGeom>
            <a:solidFill>
              <a:srgbClr val="28D2DC"/>
            </a:solid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803984" y="3836337"/>
            <a:ext cx="124111" cy="4200954"/>
            <a:chOff x="0" y="0"/>
            <a:chExt cx="165481" cy="56012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5481" cy="5601208"/>
            </a:xfrm>
            <a:custGeom>
              <a:avLst/>
              <a:gdLst/>
              <a:ahLst/>
              <a:cxnLst/>
              <a:rect r="r" b="b" t="t" l="l"/>
              <a:pathLst>
                <a:path h="5601208" w="165481">
                  <a:moveTo>
                    <a:pt x="0" y="0"/>
                  </a:moveTo>
                  <a:lnTo>
                    <a:pt x="165481" y="0"/>
                  </a:lnTo>
                  <a:lnTo>
                    <a:pt x="165481" y="5601208"/>
                  </a:lnTo>
                  <a:lnTo>
                    <a:pt x="0" y="5601208"/>
                  </a:lnTo>
                  <a:close/>
                </a:path>
              </a:pathLst>
            </a:custGeom>
            <a:solidFill>
              <a:srgbClr val="28D2DC"/>
            </a:solid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5462866" y="4591307"/>
            <a:ext cx="124111" cy="3857777"/>
            <a:chOff x="0" y="0"/>
            <a:chExt cx="165481" cy="51437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5481" cy="5143754"/>
            </a:xfrm>
            <a:custGeom>
              <a:avLst/>
              <a:gdLst/>
              <a:ahLst/>
              <a:cxnLst/>
              <a:rect r="r" b="b" t="t" l="l"/>
              <a:pathLst>
                <a:path h="5143754" w="165481">
                  <a:moveTo>
                    <a:pt x="0" y="0"/>
                  </a:moveTo>
                  <a:lnTo>
                    <a:pt x="165481" y="0"/>
                  </a:lnTo>
                  <a:lnTo>
                    <a:pt x="165481" y="5143754"/>
                  </a:lnTo>
                  <a:lnTo>
                    <a:pt x="0" y="5143754"/>
                  </a:lnTo>
                  <a:close/>
                </a:path>
              </a:pathLst>
            </a:custGeom>
            <a:solidFill>
              <a:srgbClr val="28D2DC"/>
            </a:solid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484170" y="7679817"/>
            <a:ext cx="4887287" cy="69209"/>
            <a:chOff x="0" y="0"/>
            <a:chExt cx="6516383" cy="922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16370" cy="92329"/>
            </a:xfrm>
            <a:custGeom>
              <a:avLst/>
              <a:gdLst/>
              <a:ahLst/>
              <a:cxnLst/>
              <a:rect r="r" b="b" t="t" l="l"/>
              <a:pathLst>
                <a:path h="92329" w="6516370">
                  <a:moveTo>
                    <a:pt x="0" y="0"/>
                  </a:moveTo>
                  <a:lnTo>
                    <a:pt x="6516370" y="0"/>
                  </a:lnTo>
                  <a:lnTo>
                    <a:pt x="6516370" y="92329"/>
                  </a:lnTo>
                  <a:lnTo>
                    <a:pt x="0" y="92329"/>
                  </a:lnTo>
                  <a:close/>
                </a:path>
              </a:pathLst>
            </a:custGeom>
            <a:solidFill>
              <a:srgbClr val="28D2DC"/>
            </a:solid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43857" y="1116406"/>
            <a:ext cx="10203599" cy="121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CYBERSECURITY</a:t>
            </a:r>
          </a:p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MAJOR PROJECT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3857" y="2447896"/>
            <a:ext cx="10203599" cy="2242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5704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BOUNTY</a:t>
            </a:r>
          </a:p>
          <a:p>
            <a:pPr algn="l">
              <a:lnSpc>
                <a:spcPts val="6845"/>
              </a:lnSpc>
            </a:pPr>
            <a:r>
              <a:rPr lang="en-US" sz="5704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HACKER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8769" y="5055975"/>
            <a:ext cx="10203599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Authorized Penetration Testing Case Study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45896" y="6032611"/>
            <a:ext cx="1524238" cy="82934"/>
            <a:chOff x="0" y="0"/>
            <a:chExt cx="2032318" cy="11057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32381" cy="110617"/>
            </a:xfrm>
            <a:custGeom>
              <a:avLst/>
              <a:gdLst/>
              <a:ahLst/>
              <a:cxnLst/>
              <a:rect r="r" b="b" t="t" l="l"/>
              <a:pathLst>
                <a:path h="110617" w="2032381">
                  <a:moveTo>
                    <a:pt x="0" y="0"/>
                  </a:moveTo>
                  <a:lnTo>
                    <a:pt x="2032381" y="0"/>
                  </a:lnTo>
                  <a:lnTo>
                    <a:pt x="2032381" y="110617"/>
                  </a:lnTo>
                  <a:lnTo>
                    <a:pt x="0" y="110617"/>
                  </a:lnTo>
                  <a:close/>
                </a:path>
              </a:pathLst>
            </a:custGeom>
            <a:solidFill>
              <a:srgbClr val="FFB44B"/>
            </a:solidFill>
            <a:ln w="14299" cap="sq">
              <a:solidFill>
                <a:srgbClr val="FFB44B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198769" y="6565916"/>
            <a:ext cx="9242736" cy="375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Presented by: Nikhil Kumar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8769" y="7114984"/>
            <a:ext cx="9242736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B.Tech CSE • 4th Semester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8769" y="7664053"/>
            <a:ext cx="9242736" cy="80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Rungta College of Engineering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CSVTU, Bhilai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8769" y="9036720"/>
            <a:ext cx="10340873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Faculty Guide: [Add name]  |  Group: [Add members]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80210" y="8487651"/>
            <a:ext cx="375204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BOUNTY HACKER LAB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8769" y="9576264"/>
            <a:ext cx="10203599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TryHackMe profile: [Add your profile URL]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D19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622240"/>
            <a:ext cx="16243363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Project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2543" y="1530248"/>
            <a:ext cx="1181071" cy="76067"/>
            <a:chOff x="0" y="0"/>
            <a:chExt cx="1574762" cy="1014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74800" cy="101473"/>
            </a:xfrm>
            <a:custGeom>
              <a:avLst/>
              <a:gdLst/>
              <a:ahLst/>
              <a:cxnLst/>
              <a:rect r="r" b="b" t="t" l="l"/>
              <a:pathLst>
                <a:path h="101473" w="1574800">
                  <a:moveTo>
                    <a:pt x="0" y="0"/>
                  </a:moveTo>
                  <a:lnTo>
                    <a:pt x="1574800" y="0"/>
                  </a:lnTo>
                  <a:lnTo>
                    <a:pt x="1574800" y="101473"/>
                  </a:lnTo>
                  <a:lnTo>
                    <a:pt x="0" y="101473"/>
                  </a:lnTo>
                  <a:close/>
                </a:path>
              </a:pathLst>
            </a:custGeom>
            <a:solidFill>
              <a:srgbClr val="28D2DC"/>
            </a:solid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4321514" y="704602"/>
            <a:ext cx="2997070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01 • 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72759" y="9754714"/>
            <a:ext cx="388991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CBCCF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9141" y="9764239"/>
            <a:ext cx="13360746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CYBERSECURITY MAJOR PROJECT  •  AUTHORIZED LAB ONLY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5220" y="2173367"/>
            <a:ext cx="15968824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F5F8FC"/>
                </a:solidFill>
                <a:latin typeface="Aptos"/>
                <a:ea typeface="Aptos"/>
                <a:cs typeface="Aptos"/>
                <a:sym typeface="Aptos"/>
              </a:rPr>
              <a:t>A hands-on study of the TryHackMe Bounty Hacker room, using evidence from the completed lab to explain exposed services, initial access, privilege review and defensive lessons.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2356" y="3904964"/>
            <a:ext cx="5161817" cy="3377346"/>
            <a:chOff x="0" y="0"/>
            <a:chExt cx="6882422" cy="45031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82511" cy="4503166"/>
            </a:xfrm>
            <a:custGeom>
              <a:avLst/>
              <a:gdLst/>
              <a:ahLst/>
              <a:cxnLst/>
              <a:rect r="r" b="b" t="t" l="l"/>
              <a:pathLst>
                <a:path h="4503166" w="6882511">
                  <a:moveTo>
                    <a:pt x="0" y="360299"/>
                  </a:moveTo>
                  <a:cubicBezTo>
                    <a:pt x="0" y="161290"/>
                    <a:pt x="161290" y="0"/>
                    <a:pt x="360299" y="0"/>
                  </a:cubicBezTo>
                  <a:lnTo>
                    <a:pt x="6522212" y="0"/>
                  </a:lnTo>
                  <a:cubicBezTo>
                    <a:pt x="6721221" y="0"/>
                    <a:pt x="6882511" y="161290"/>
                    <a:pt x="6882511" y="360299"/>
                  </a:cubicBezTo>
                  <a:lnTo>
                    <a:pt x="6882511" y="4142867"/>
                  </a:lnTo>
                  <a:cubicBezTo>
                    <a:pt x="6882511" y="4341876"/>
                    <a:pt x="6721221" y="4503166"/>
                    <a:pt x="6522212" y="4503166"/>
                  </a:cubicBezTo>
                  <a:lnTo>
                    <a:pt x="360299" y="4503166"/>
                  </a:lnTo>
                  <a:cubicBezTo>
                    <a:pt x="161290" y="4503166"/>
                    <a:pt x="0" y="4341876"/>
                    <a:pt x="0" y="4142867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22356" y="3904964"/>
            <a:ext cx="110385" cy="3377346"/>
            <a:chOff x="0" y="0"/>
            <a:chExt cx="147180" cy="45031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7193" cy="4503166"/>
            </a:xfrm>
            <a:custGeom>
              <a:avLst/>
              <a:gdLst/>
              <a:ahLst/>
              <a:cxnLst/>
              <a:rect r="r" b="b" t="t" l="l"/>
              <a:pathLst>
                <a:path h="4503166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4503166"/>
                  </a:lnTo>
                  <a:lnTo>
                    <a:pt x="0" y="4503166"/>
                  </a:lnTo>
                  <a:close/>
                </a:path>
              </a:pathLst>
            </a:custGeom>
            <a:solidFill>
              <a:srgbClr val="28D2DC"/>
            </a:solid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77210" y="4204916"/>
            <a:ext cx="4479560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Project Aim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7210" y="4881724"/>
            <a:ext cx="4479560" cy="2155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Identify exposed services, understand the access path demonstrated in the room, and convert observations into practical security recommendations.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81680" y="3904964"/>
            <a:ext cx="5161817" cy="3377346"/>
            <a:chOff x="0" y="0"/>
            <a:chExt cx="6882422" cy="45031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82511" cy="4503166"/>
            </a:xfrm>
            <a:custGeom>
              <a:avLst/>
              <a:gdLst/>
              <a:ahLst/>
              <a:cxnLst/>
              <a:rect r="r" b="b" t="t" l="l"/>
              <a:pathLst>
                <a:path h="4503166" w="6882511">
                  <a:moveTo>
                    <a:pt x="0" y="360299"/>
                  </a:moveTo>
                  <a:cubicBezTo>
                    <a:pt x="0" y="161290"/>
                    <a:pt x="161290" y="0"/>
                    <a:pt x="360299" y="0"/>
                  </a:cubicBezTo>
                  <a:lnTo>
                    <a:pt x="6522212" y="0"/>
                  </a:lnTo>
                  <a:cubicBezTo>
                    <a:pt x="6721221" y="0"/>
                    <a:pt x="6882511" y="161290"/>
                    <a:pt x="6882511" y="360299"/>
                  </a:cubicBezTo>
                  <a:lnTo>
                    <a:pt x="6882511" y="4142867"/>
                  </a:lnTo>
                  <a:cubicBezTo>
                    <a:pt x="6882511" y="4341876"/>
                    <a:pt x="6721221" y="4503166"/>
                    <a:pt x="6522212" y="4503166"/>
                  </a:cubicBezTo>
                  <a:lnTo>
                    <a:pt x="360299" y="4503166"/>
                  </a:lnTo>
                  <a:cubicBezTo>
                    <a:pt x="161290" y="4503166"/>
                    <a:pt x="0" y="4341876"/>
                    <a:pt x="0" y="4142867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581680" y="3904964"/>
            <a:ext cx="110385" cy="3377346"/>
            <a:chOff x="0" y="0"/>
            <a:chExt cx="147180" cy="45031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7193" cy="4503166"/>
            </a:xfrm>
            <a:custGeom>
              <a:avLst/>
              <a:gdLst/>
              <a:ahLst/>
              <a:cxnLst/>
              <a:rect r="r" b="b" t="t" l="l"/>
              <a:pathLst>
                <a:path h="4503166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4503166"/>
                  </a:lnTo>
                  <a:lnTo>
                    <a:pt x="0" y="4503166"/>
                  </a:lnTo>
                  <a:close/>
                </a:path>
              </a:pathLst>
            </a:custGeom>
            <a:solidFill>
              <a:srgbClr val="FFB44B"/>
            </a:solidFill>
            <a:ln w="14299" cap="sq">
              <a:solidFill>
                <a:srgbClr val="FFB44B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6936534" y="4204916"/>
            <a:ext cx="4479560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Lab Environment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36534" y="4881724"/>
            <a:ext cx="4479560" cy="2155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TryHackMe Bounty Hacker. All testing and screenshots must come from the assigned lab instance.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141003" y="3904964"/>
            <a:ext cx="5161817" cy="3377346"/>
            <a:chOff x="0" y="0"/>
            <a:chExt cx="6882422" cy="45031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82511" cy="4503166"/>
            </a:xfrm>
            <a:custGeom>
              <a:avLst/>
              <a:gdLst/>
              <a:ahLst/>
              <a:cxnLst/>
              <a:rect r="r" b="b" t="t" l="l"/>
              <a:pathLst>
                <a:path h="4503166" w="6882511">
                  <a:moveTo>
                    <a:pt x="0" y="360299"/>
                  </a:moveTo>
                  <a:cubicBezTo>
                    <a:pt x="0" y="161290"/>
                    <a:pt x="161290" y="0"/>
                    <a:pt x="360299" y="0"/>
                  </a:cubicBezTo>
                  <a:lnTo>
                    <a:pt x="6522212" y="0"/>
                  </a:lnTo>
                  <a:cubicBezTo>
                    <a:pt x="6721221" y="0"/>
                    <a:pt x="6882511" y="161290"/>
                    <a:pt x="6882511" y="360299"/>
                  </a:cubicBezTo>
                  <a:lnTo>
                    <a:pt x="6882511" y="4142867"/>
                  </a:lnTo>
                  <a:cubicBezTo>
                    <a:pt x="6882511" y="4341876"/>
                    <a:pt x="6721221" y="4503166"/>
                    <a:pt x="6522212" y="4503166"/>
                  </a:cubicBezTo>
                  <a:lnTo>
                    <a:pt x="360299" y="4503166"/>
                  </a:lnTo>
                  <a:cubicBezTo>
                    <a:pt x="161290" y="4503166"/>
                    <a:pt x="0" y="4341876"/>
                    <a:pt x="0" y="4142867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2141003" y="3904964"/>
            <a:ext cx="110385" cy="3377346"/>
            <a:chOff x="0" y="0"/>
            <a:chExt cx="147180" cy="45031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7193" cy="4503166"/>
            </a:xfrm>
            <a:custGeom>
              <a:avLst/>
              <a:gdLst/>
              <a:ahLst/>
              <a:cxnLst/>
              <a:rect r="r" b="b" t="t" l="l"/>
              <a:pathLst>
                <a:path h="4503166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4503166"/>
                  </a:lnTo>
                  <a:lnTo>
                    <a:pt x="0" y="4503166"/>
                  </a:lnTo>
                  <a:close/>
                </a:path>
              </a:pathLst>
            </a:custGeom>
            <a:solidFill>
              <a:srgbClr val="5AD29B"/>
            </a:solidFill>
            <a:ln w="14299" cap="sq">
              <a:solidFill>
                <a:srgbClr val="5AD29B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2495857" y="4204916"/>
            <a:ext cx="4479560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Deliverables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495857" y="4881724"/>
            <a:ext cx="4479560" cy="2155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A clear project presentation, screenshot archive, risk discussion and remediation plan.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3857" y="8007220"/>
            <a:ext cx="15968824" cy="80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B44B"/>
                </a:solidFill>
                <a:latin typeface="Aptos Bold"/>
                <a:ea typeface="Aptos Bold"/>
                <a:cs typeface="Aptos Bold"/>
                <a:sym typeface="Aptos Bold"/>
              </a:rPr>
              <a:t>Scope note: Bounty Hacker may not demonstrate every technique in the college’s separate full-chain brief. Record missing phases as gaps, not completed results.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D19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622240"/>
            <a:ext cx="16243363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Problem Statement &amp; Scope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2543" y="1530248"/>
            <a:ext cx="1181071" cy="76067"/>
            <a:chOff x="0" y="0"/>
            <a:chExt cx="1574762" cy="1014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74800" cy="101473"/>
            </a:xfrm>
            <a:custGeom>
              <a:avLst/>
              <a:gdLst/>
              <a:ahLst/>
              <a:cxnLst/>
              <a:rect r="r" b="b" t="t" l="l"/>
              <a:pathLst>
                <a:path h="101473" w="1574800">
                  <a:moveTo>
                    <a:pt x="0" y="0"/>
                  </a:moveTo>
                  <a:lnTo>
                    <a:pt x="1574800" y="0"/>
                  </a:lnTo>
                  <a:lnTo>
                    <a:pt x="1574800" y="101473"/>
                  </a:lnTo>
                  <a:lnTo>
                    <a:pt x="0" y="101473"/>
                  </a:lnTo>
                  <a:close/>
                </a:path>
              </a:pathLst>
            </a:custGeom>
            <a:solidFill>
              <a:srgbClr val="28D2DC"/>
            </a:solid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4321514" y="704602"/>
            <a:ext cx="2997070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02 • SCOPE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72759" y="9754714"/>
            <a:ext cx="388991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CBCCF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9141" y="9764239"/>
            <a:ext cx="13360746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CYBERSECURITY MAJOR PROJECT  •  AUTHORIZED LAB ONLY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2356" y="2120494"/>
            <a:ext cx="7907169" cy="2759640"/>
            <a:chOff x="0" y="0"/>
            <a:chExt cx="10542892" cy="3679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42905" cy="3679571"/>
            </a:xfrm>
            <a:custGeom>
              <a:avLst/>
              <a:gdLst/>
              <a:ahLst/>
              <a:cxnLst/>
              <a:rect r="r" b="b" t="t" l="l"/>
              <a:pathLst>
                <a:path h="3679571" w="10542905">
                  <a:moveTo>
                    <a:pt x="0" y="294386"/>
                  </a:moveTo>
                  <a:cubicBezTo>
                    <a:pt x="0" y="131826"/>
                    <a:pt x="131826" y="0"/>
                    <a:pt x="294386" y="0"/>
                  </a:cubicBezTo>
                  <a:lnTo>
                    <a:pt x="10248519" y="0"/>
                  </a:lnTo>
                  <a:cubicBezTo>
                    <a:pt x="10411078" y="0"/>
                    <a:pt x="10542905" y="131826"/>
                    <a:pt x="10542905" y="294386"/>
                  </a:cubicBezTo>
                  <a:lnTo>
                    <a:pt x="10542905" y="3385185"/>
                  </a:lnTo>
                  <a:cubicBezTo>
                    <a:pt x="10542905" y="3547745"/>
                    <a:pt x="10411078" y="3679571"/>
                    <a:pt x="10248519" y="3679571"/>
                  </a:cubicBezTo>
                  <a:lnTo>
                    <a:pt x="294386" y="3679571"/>
                  </a:lnTo>
                  <a:cubicBezTo>
                    <a:pt x="131826" y="3679571"/>
                    <a:pt x="0" y="3547745"/>
                    <a:pt x="0" y="3385185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22356" y="2120494"/>
            <a:ext cx="110385" cy="2759640"/>
            <a:chOff x="0" y="0"/>
            <a:chExt cx="147180" cy="3679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7193" cy="3679571"/>
            </a:xfrm>
            <a:custGeom>
              <a:avLst/>
              <a:gdLst/>
              <a:ahLst/>
              <a:cxnLst/>
              <a:rect r="r" b="b" t="t" l="l"/>
              <a:pathLst>
                <a:path h="3679571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3679571"/>
                  </a:lnTo>
                  <a:lnTo>
                    <a:pt x="0" y="3679571"/>
                  </a:lnTo>
                  <a:close/>
                </a:path>
              </a:pathLst>
            </a:custGeom>
            <a:solidFill>
              <a:srgbClr val="28D2DC"/>
            </a:solid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377210" y="2420445"/>
            <a:ext cx="7224903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Security Problem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7210" y="3097254"/>
            <a:ext cx="7224903" cy="153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Exposed services, weak credential practices or excessive privileges can give an attacker a path from service discovery to unauthorized access.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327023" y="2120494"/>
            <a:ext cx="7907169" cy="2759640"/>
            <a:chOff x="0" y="0"/>
            <a:chExt cx="10542892" cy="3679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42905" cy="3679571"/>
            </a:xfrm>
            <a:custGeom>
              <a:avLst/>
              <a:gdLst/>
              <a:ahLst/>
              <a:cxnLst/>
              <a:rect r="r" b="b" t="t" l="l"/>
              <a:pathLst>
                <a:path h="3679571" w="10542905">
                  <a:moveTo>
                    <a:pt x="0" y="294386"/>
                  </a:moveTo>
                  <a:cubicBezTo>
                    <a:pt x="0" y="131826"/>
                    <a:pt x="131826" y="0"/>
                    <a:pt x="294386" y="0"/>
                  </a:cubicBezTo>
                  <a:lnTo>
                    <a:pt x="10248519" y="0"/>
                  </a:lnTo>
                  <a:cubicBezTo>
                    <a:pt x="10411078" y="0"/>
                    <a:pt x="10542905" y="131826"/>
                    <a:pt x="10542905" y="294386"/>
                  </a:cubicBezTo>
                  <a:lnTo>
                    <a:pt x="10542905" y="3385185"/>
                  </a:lnTo>
                  <a:cubicBezTo>
                    <a:pt x="10542905" y="3547745"/>
                    <a:pt x="10411078" y="3679571"/>
                    <a:pt x="10248519" y="3679571"/>
                  </a:cubicBezTo>
                  <a:lnTo>
                    <a:pt x="294386" y="3679571"/>
                  </a:lnTo>
                  <a:cubicBezTo>
                    <a:pt x="131826" y="3679571"/>
                    <a:pt x="0" y="3547745"/>
                    <a:pt x="0" y="3385185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327023" y="2120494"/>
            <a:ext cx="110385" cy="2759640"/>
            <a:chOff x="0" y="0"/>
            <a:chExt cx="147180" cy="3679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7193" cy="3679571"/>
            </a:xfrm>
            <a:custGeom>
              <a:avLst/>
              <a:gdLst/>
              <a:ahLst/>
              <a:cxnLst/>
              <a:rect r="r" b="b" t="t" l="l"/>
              <a:pathLst>
                <a:path h="3679571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3679571"/>
                  </a:lnTo>
                  <a:lnTo>
                    <a:pt x="0" y="3679571"/>
                  </a:lnTo>
                  <a:close/>
                </a:path>
              </a:pathLst>
            </a:custGeom>
            <a:solidFill>
              <a:srgbClr val="FFB44B"/>
            </a:solidFill>
            <a:ln w="14299" cap="sq">
              <a:solidFill>
                <a:srgbClr val="FFB44B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681877" y="2420445"/>
            <a:ext cx="7224903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Assessment Scope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81877" y="3097254"/>
            <a:ext cx="7224903" cy="153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Review only the assigned TryHackMe target, document the attack path actually completed, and propose controls tied to observed evidence.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2494" y="5605043"/>
            <a:ext cx="2653903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IN SCOPE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9926" y="6103382"/>
            <a:ext cx="7609294" cy="2498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8FC"/>
                </a:solidFill>
                <a:latin typeface="Aptos"/>
                <a:ea typeface="Aptos"/>
                <a:cs typeface="Aptos"/>
                <a:sym typeface="Aptos"/>
              </a:rPr>
              <a:t>•  Target discovery and service enumeration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8FC"/>
                </a:solidFill>
                <a:latin typeface="Aptos"/>
                <a:ea typeface="Aptos"/>
                <a:cs typeface="Aptos"/>
                <a:sym typeface="Aptos"/>
              </a:rPr>
              <a:t>•  Authorized vulnerability investigation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8FC"/>
                </a:solidFill>
                <a:latin typeface="Aptos"/>
                <a:ea typeface="Aptos"/>
                <a:cs typeface="Aptos"/>
                <a:sym typeface="Aptos"/>
              </a:rPr>
              <a:t>•  Access and privilege findings from the completed room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8FC"/>
                </a:solidFill>
                <a:latin typeface="Aptos"/>
                <a:ea typeface="Aptos"/>
                <a:cs typeface="Aptos"/>
                <a:sym typeface="Aptos"/>
              </a:rPr>
              <a:t>•  Defensive recommendations and evidence management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17161" y="5605043"/>
            <a:ext cx="2653903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B44B"/>
                </a:solidFill>
                <a:latin typeface="Aptos Bold"/>
                <a:ea typeface="Aptos Bold"/>
                <a:cs typeface="Aptos Bold"/>
                <a:sym typeface="Aptos Bold"/>
              </a:rPr>
              <a:t>OUT OF SCOPE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44593" y="6103382"/>
            <a:ext cx="7609294" cy="2498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8FC"/>
                </a:solidFill>
                <a:latin typeface="Aptos"/>
                <a:ea typeface="Aptos"/>
                <a:cs typeface="Aptos"/>
                <a:sym typeface="Aptos"/>
              </a:rPr>
              <a:t>•  Testing public or third-party systems without permission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8FC"/>
                </a:solidFill>
                <a:latin typeface="Aptos"/>
                <a:ea typeface="Aptos"/>
                <a:cs typeface="Aptos"/>
                <a:sym typeface="Aptos"/>
              </a:rPr>
              <a:t>•  Claiming unperformed exploit steps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8FC"/>
                </a:solidFill>
                <a:latin typeface="Aptos"/>
                <a:ea typeface="Aptos"/>
                <a:cs typeface="Aptos"/>
                <a:sym typeface="Aptos"/>
              </a:rPr>
              <a:t>•  Using lab access outside the assigned target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5F8FC"/>
                </a:solidFill>
                <a:latin typeface="Aptos"/>
                <a:ea typeface="Aptos"/>
                <a:cs typeface="Aptos"/>
                <a:sym typeface="Aptos"/>
              </a:rPr>
              <a:t>•  Publishing credentials, flags or sensitive data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D19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622240"/>
            <a:ext cx="16243363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Methodology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2543" y="1530248"/>
            <a:ext cx="1181071" cy="76067"/>
            <a:chOff x="0" y="0"/>
            <a:chExt cx="1574762" cy="1014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74800" cy="101473"/>
            </a:xfrm>
            <a:custGeom>
              <a:avLst/>
              <a:gdLst/>
              <a:ahLst/>
              <a:cxnLst/>
              <a:rect r="r" b="b" t="t" l="l"/>
              <a:pathLst>
                <a:path h="101473" w="1574800">
                  <a:moveTo>
                    <a:pt x="0" y="0"/>
                  </a:moveTo>
                  <a:lnTo>
                    <a:pt x="1574800" y="0"/>
                  </a:lnTo>
                  <a:lnTo>
                    <a:pt x="1574800" y="101473"/>
                  </a:lnTo>
                  <a:lnTo>
                    <a:pt x="0" y="101473"/>
                  </a:lnTo>
                  <a:close/>
                </a:path>
              </a:pathLst>
            </a:custGeom>
            <a:solidFill>
              <a:srgbClr val="28D2DC"/>
            </a:solid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4321514" y="704602"/>
            <a:ext cx="2997070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03 • PROCESS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72759" y="9754714"/>
            <a:ext cx="388991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CBCCF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9141" y="9764239"/>
            <a:ext cx="13360746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CYBERSECURITY MAJOR PROJECT  •  AUTHORIZED LAB ONLY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2356" y="2806827"/>
            <a:ext cx="2965542" cy="3651885"/>
            <a:chOff x="0" y="0"/>
            <a:chExt cx="3954056" cy="48691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54145" cy="4869180"/>
            </a:xfrm>
            <a:custGeom>
              <a:avLst/>
              <a:gdLst/>
              <a:ahLst/>
              <a:cxnLst/>
              <a:rect r="r" b="b" t="t" l="l"/>
              <a:pathLst>
                <a:path h="4869180" w="3954145">
                  <a:moveTo>
                    <a:pt x="0" y="316357"/>
                  </a:moveTo>
                  <a:cubicBezTo>
                    <a:pt x="0" y="141605"/>
                    <a:pt x="141605" y="0"/>
                    <a:pt x="316357" y="0"/>
                  </a:cubicBezTo>
                  <a:lnTo>
                    <a:pt x="3637788" y="0"/>
                  </a:lnTo>
                  <a:cubicBezTo>
                    <a:pt x="3812540" y="0"/>
                    <a:pt x="3954145" y="141605"/>
                    <a:pt x="3954145" y="316357"/>
                  </a:cubicBezTo>
                  <a:lnTo>
                    <a:pt x="3954145" y="4552823"/>
                  </a:lnTo>
                  <a:cubicBezTo>
                    <a:pt x="3954145" y="4727575"/>
                    <a:pt x="3812540" y="4869180"/>
                    <a:pt x="3637788" y="4869180"/>
                  </a:cubicBezTo>
                  <a:lnTo>
                    <a:pt x="316357" y="4869180"/>
                  </a:lnTo>
                  <a:cubicBezTo>
                    <a:pt x="141605" y="4869180"/>
                    <a:pt x="0" y="4727575"/>
                    <a:pt x="0" y="4552823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322308" y="3134230"/>
            <a:ext cx="663531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2308" y="4026475"/>
            <a:ext cx="2379374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Service Discovery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2308" y="5055975"/>
            <a:ext cx="2351913" cy="9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Find open ports and visible services.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53926" y="4163739"/>
            <a:ext cx="292913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454033" y="2806827"/>
            <a:ext cx="2965542" cy="3651885"/>
            <a:chOff x="0" y="0"/>
            <a:chExt cx="3954056" cy="48691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54145" cy="4869180"/>
            </a:xfrm>
            <a:custGeom>
              <a:avLst/>
              <a:gdLst/>
              <a:ahLst/>
              <a:cxnLst/>
              <a:rect r="r" b="b" t="t" l="l"/>
              <a:pathLst>
                <a:path h="4869180" w="3954145">
                  <a:moveTo>
                    <a:pt x="0" y="316357"/>
                  </a:moveTo>
                  <a:cubicBezTo>
                    <a:pt x="0" y="141605"/>
                    <a:pt x="141605" y="0"/>
                    <a:pt x="316357" y="0"/>
                  </a:cubicBezTo>
                  <a:lnTo>
                    <a:pt x="3637788" y="0"/>
                  </a:lnTo>
                  <a:cubicBezTo>
                    <a:pt x="3812540" y="0"/>
                    <a:pt x="3954145" y="141605"/>
                    <a:pt x="3954145" y="316357"/>
                  </a:cubicBezTo>
                  <a:lnTo>
                    <a:pt x="3954145" y="4552823"/>
                  </a:lnTo>
                  <a:cubicBezTo>
                    <a:pt x="3954145" y="4727575"/>
                    <a:pt x="3812540" y="4869180"/>
                    <a:pt x="3637788" y="4869180"/>
                  </a:cubicBezTo>
                  <a:lnTo>
                    <a:pt x="316357" y="4869180"/>
                  </a:lnTo>
                  <a:cubicBezTo>
                    <a:pt x="141605" y="4869180"/>
                    <a:pt x="0" y="4727575"/>
                    <a:pt x="0" y="4552823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4753985" y="3134230"/>
            <a:ext cx="663531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53985" y="4026475"/>
            <a:ext cx="2379374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Service Enumeration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753985" y="5055975"/>
            <a:ext cx="2351913" cy="9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Review available service information and files.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85602" y="4163739"/>
            <a:ext cx="292913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885719" y="2806827"/>
            <a:ext cx="2965542" cy="3651885"/>
            <a:chOff x="0" y="0"/>
            <a:chExt cx="3954056" cy="48691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54145" cy="4869180"/>
            </a:xfrm>
            <a:custGeom>
              <a:avLst/>
              <a:gdLst/>
              <a:ahLst/>
              <a:cxnLst/>
              <a:rect r="r" b="b" t="t" l="l"/>
              <a:pathLst>
                <a:path h="4869180" w="3954145">
                  <a:moveTo>
                    <a:pt x="0" y="316357"/>
                  </a:moveTo>
                  <a:cubicBezTo>
                    <a:pt x="0" y="141605"/>
                    <a:pt x="141605" y="0"/>
                    <a:pt x="316357" y="0"/>
                  </a:cubicBezTo>
                  <a:lnTo>
                    <a:pt x="3637788" y="0"/>
                  </a:lnTo>
                  <a:cubicBezTo>
                    <a:pt x="3812540" y="0"/>
                    <a:pt x="3954145" y="141605"/>
                    <a:pt x="3954145" y="316357"/>
                  </a:cubicBezTo>
                  <a:lnTo>
                    <a:pt x="3954145" y="4552823"/>
                  </a:lnTo>
                  <a:cubicBezTo>
                    <a:pt x="3954145" y="4727575"/>
                    <a:pt x="3812540" y="4869180"/>
                    <a:pt x="3637788" y="4869180"/>
                  </a:cubicBezTo>
                  <a:lnTo>
                    <a:pt x="316357" y="4869180"/>
                  </a:lnTo>
                  <a:cubicBezTo>
                    <a:pt x="141605" y="4869180"/>
                    <a:pt x="0" y="4727575"/>
                    <a:pt x="0" y="4552823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8185671" y="3134230"/>
            <a:ext cx="663531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185671" y="4026475"/>
            <a:ext cx="2379374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Initial Access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85671" y="5055975"/>
            <a:ext cx="2351913" cy="9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Document the access method used in the room.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17288" y="4163739"/>
            <a:ext cx="292913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317395" y="2806827"/>
            <a:ext cx="2965542" cy="3651885"/>
            <a:chOff x="0" y="0"/>
            <a:chExt cx="3954056" cy="48691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954145" cy="4869180"/>
            </a:xfrm>
            <a:custGeom>
              <a:avLst/>
              <a:gdLst/>
              <a:ahLst/>
              <a:cxnLst/>
              <a:rect r="r" b="b" t="t" l="l"/>
              <a:pathLst>
                <a:path h="4869180" w="3954145">
                  <a:moveTo>
                    <a:pt x="0" y="316357"/>
                  </a:moveTo>
                  <a:cubicBezTo>
                    <a:pt x="0" y="141605"/>
                    <a:pt x="141605" y="0"/>
                    <a:pt x="316357" y="0"/>
                  </a:cubicBezTo>
                  <a:lnTo>
                    <a:pt x="3637788" y="0"/>
                  </a:lnTo>
                  <a:cubicBezTo>
                    <a:pt x="3812540" y="0"/>
                    <a:pt x="3954145" y="141605"/>
                    <a:pt x="3954145" y="316357"/>
                  </a:cubicBezTo>
                  <a:lnTo>
                    <a:pt x="3954145" y="4552823"/>
                  </a:lnTo>
                  <a:cubicBezTo>
                    <a:pt x="3954145" y="4727575"/>
                    <a:pt x="3812540" y="4869180"/>
                    <a:pt x="3637788" y="4869180"/>
                  </a:cubicBezTo>
                  <a:lnTo>
                    <a:pt x="316357" y="4869180"/>
                  </a:lnTo>
                  <a:cubicBezTo>
                    <a:pt x="141605" y="4869180"/>
                    <a:pt x="0" y="4727575"/>
                    <a:pt x="0" y="4552823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1617347" y="3134230"/>
            <a:ext cx="663531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617347" y="4026475"/>
            <a:ext cx="2379374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Privilege Escalation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617347" y="5055975"/>
            <a:ext cx="2351913" cy="9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Verify the user and privilege level reached.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348965" y="4163739"/>
            <a:ext cx="292913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4749082" y="2806827"/>
            <a:ext cx="2965542" cy="3651885"/>
            <a:chOff x="0" y="0"/>
            <a:chExt cx="3954056" cy="48691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54145" cy="4869180"/>
            </a:xfrm>
            <a:custGeom>
              <a:avLst/>
              <a:gdLst/>
              <a:ahLst/>
              <a:cxnLst/>
              <a:rect r="r" b="b" t="t" l="l"/>
              <a:pathLst>
                <a:path h="4869180" w="3954145">
                  <a:moveTo>
                    <a:pt x="0" y="316357"/>
                  </a:moveTo>
                  <a:cubicBezTo>
                    <a:pt x="0" y="141605"/>
                    <a:pt x="141605" y="0"/>
                    <a:pt x="316357" y="0"/>
                  </a:cubicBezTo>
                  <a:lnTo>
                    <a:pt x="3637788" y="0"/>
                  </a:lnTo>
                  <a:cubicBezTo>
                    <a:pt x="3812540" y="0"/>
                    <a:pt x="3954145" y="141605"/>
                    <a:pt x="3954145" y="316357"/>
                  </a:cubicBezTo>
                  <a:lnTo>
                    <a:pt x="3954145" y="4552823"/>
                  </a:lnTo>
                  <a:cubicBezTo>
                    <a:pt x="3954145" y="4727575"/>
                    <a:pt x="3812540" y="4869180"/>
                    <a:pt x="3637788" y="4869180"/>
                  </a:cubicBezTo>
                  <a:lnTo>
                    <a:pt x="316357" y="4869180"/>
                  </a:lnTo>
                  <a:cubicBezTo>
                    <a:pt x="141605" y="4869180"/>
                    <a:pt x="0" y="4727575"/>
                    <a:pt x="0" y="4552823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5049033" y="3134230"/>
            <a:ext cx="663531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049033" y="4026475"/>
            <a:ext cx="2379374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Reporting &amp; Defense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049033" y="5055975"/>
            <a:ext cx="2351913" cy="9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Organize screenshots, assess impact and recommend fixes.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12494" y="7526788"/>
            <a:ext cx="15968824" cy="80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For each major step, record the command, output and screenshot. Never include passwords, tokens or sensitive secrets.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9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2543" y="1530248"/>
            <a:ext cx="1181071" cy="76067"/>
            <a:chOff x="0" y="0"/>
            <a:chExt cx="1574762" cy="101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4800" cy="101473"/>
            </a:xfrm>
            <a:custGeom>
              <a:avLst/>
              <a:gdLst/>
              <a:ahLst/>
              <a:cxnLst/>
              <a:rect r="r" b="b" t="t" l="l"/>
              <a:pathLst>
                <a:path h="101473" w="1574800">
                  <a:moveTo>
                    <a:pt x="0" y="0"/>
                  </a:moveTo>
                  <a:lnTo>
                    <a:pt x="1574800" y="0"/>
                  </a:lnTo>
                  <a:lnTo>
                    <a:pt x="1574800" y="101473"/>
                  </a:lnTo>
                  <a:lnTo>
                    <a:pt x="0" y="101473"/>
                  </a:lnTo>
                  <a:close/>
                </a:path>
              </a:pathLst>
            </a:custGeom>
            <a:solidFill>
              <a:srgbClr val="28D2DC"/>
            </a:solid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90984" y="3081366"/>
            <a:ext cx="9966169" cy="5230454"/>
            <a:chOff x="0" y="0"/>
            <a:chExt cx="13288226" cy="69739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288265" cy="6973951"/>
            </a:xfrm>
            <a:custGeom>
              <a:avLst/>
              <a:gdLst/>
              <a:ahLst/>
              <a:cxnLst/>
              <a:rect r="r" b="b" t="t" l="l"/>
              <a:pathLst>
                <a:path h="6973951" w="13288265">
                  <a:moveTo>
                    <a:pt x="0" y="557911"/>
                  </a:moveTo>
                  <a:cubicBezTo>
                    <a:pt x="0" y="249809"/>
                    <a:pt x="249809" y="0"/>
                    <a:pt x="557911" y="0"/>
                  </a:cubicBezTo>
                  <a:lnTo>
                    <a:pt x="12730353" y="0"/>
                  </a:lnTo>
                  <a:cubicBezTo>
                    <a:pt x="13038455" y="0"/>
                    <a:pt x="13288265" y="249809"/>
                    <a:pt x="13288265" y="557911"/>
                  </a:cubicBezTo>
                  <a:lnTo>
                    <a:pt x="13288265" y="6416040"/>
                  </a:lnTo>
                  <a:cubicBezTo>
                    <a:pt x="13288265" y="6724142"/>
                    <a:pt x="13038455" y="6973951"/>
                    <a:pt x="12730353" y="6973951"/>
                  </a:cubicBezTo>
                  <a:lnTo>
                    <a:pt x="557911" y="6973951"/>
                  </a:lnTo>
                  <a:cubicBezTo>
                    <a:pt x="249809" y="6973951"/>
                    <a:pt x="0" y="6724142"/>
                    <a:pt x="0" y="6416040"/>
                  </a:cubicBezTo>
                  <a:close/>
                </a:path>
              </a:pathLst>
            </a:custGeom>
            <a:blipFill>
              <a:blip r:embed="rId2"/>
              <a:stretch>
                <a:fillRect l="0" t="-5890" r="0" b="-5890"/>
              </a:stretch>
            </a:blip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441304" y="4914167"/>
            <a:ext cx="9265539" cy="892237"/>
            <a:chOff x="0" y="0"/>
            <a:chExt cx="12354052" cy="11896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354051" cy="1189652"/>
            </a:xfrm>
            <a:custGeom>
              <a:avLst/>
              <a:gdLst/>
              <a:ahLst/>
              <a:cxnLst/>
              <a:rect r="r" b="b" t="t" l="l"/>
              <a:pathLst>
                <a:path h="1189652" w="12354051">
                  <a:moveTo>
                    <a:pt x="0" y="0"/>
                  </a:moveTo>
                  <a:lnTo>
                    <a:pt x="12354051" y="0"/>
                  </a:lnTo>
                  <a:lnTo>
                    <a:pt x="12354051" y="1189652"/>
                  </a:lnTo>
                  <a:lnTo>
                    <a:pt x="0" y="11896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344" r="0" b="-15234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2354052" cy="11896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591935" y="3081366"/>
            <a:ext cx="5504993" cy="2210572"/>
            <a:chOff x="0" y="0"/>
            <a:chExt cx="7339990" cy="29474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39965" cy="2947416"/>
            </a:xfrm>
            <a:custGeom>
              <a:avLst/>
              <a:gdLst/>
              <a:ahLst/>
              <a:cxnLst/>
              <a:rect r="r" b="b" t="t" l="l"/>
              <a:pathLst>
                <a:path h="2947416" w="7339965">
                  <a:moveTo>
                    <a:pt x="0" y="235839"/>
                  </a:moveTo>
                  <a:cubicBezTo>
                    <a:pt x="0" y="105537"/>
                    <a:pt x="105537" y="0"/>
                    <a:pt x="235839" y="0"/>
                  </a:cubicBezTo>
                  <a:lnTo>
                    <a:pt x="7104126" y="0"/>
                  </a:lnTo>
                  <a:cubicBezTo>
                    <a:pt x="7234301" y="0"/>
                    <a:pt x="7339965" y="105537"/>
                    <a:pt x="7339965" y="235839"/>
                  </a:cubicBezTo>
                  <a:lnTo>
                    <a:pt x="7339965" y="2711577"/>
                  </a:lnTo>
                  <a:cubicBezTo>
                    <a:pt x="7339965" y="2841752"/>
                    <a:pt x="7234428" y="2947416"/>
                    <a:pt x="7104126" y="2947416"/>
                  </a:cubicBezTo>
                  <a:lnTo>
                    <a:pt x="235839" y="2947416"/>
                  </a:lnTo>
                  <a:cubicBezTo>
                    <a:pt x="105537" y="2947416"/>
                    <a:pt x="0" y="2841879"/>
                    <a:pt x="0" y="2711577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591935" y="3081366"/>
            <a:ext cx="110385" cy="2210572"/>
            <a:chOff x="0" y="0"/>
            <a:chExt cx="147180" cy="29474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7193" cy="2947416"/>
            </a:xfrm>
            <a:custGeom>
              <a:avLst/>
              <a:gdLst/>
              <a:ahLst/>
              <a:cxnLst/>
              <a:rect r="r" b="b" t="t" l="l"/>
              <a:pathLst>
                <a:path h="2947416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2947416"/>
                  </a:lnTo>
                  <a:lnTo>
                    <a:pt x="0" y="2947416"/>
                  </a:lnTo>
                  <a:close/>
                </a:path>
              </a:pathLst>
            </a:custGeom>
            <a:solidFill>
              <a:srgbClr val="28D2DC"/>
            </a:solid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591935" y="5620807"/>
            <a:ext cx="5504993" cy="2691013"/>
            <a:chOff x="0" y="0"/>
            <a:chExt cx="7339990" cy="35880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39964" cy="3588004"/>
            </a:xfrm>
            <a:custGeom>
              <a:avLst/>
              <a:gdLst/>
              <a:ahLst/>
              <a:cxnLst/>
              <a:rect r="r" b="b" t="t" l="l"/>
              <a:pathLst>
                <a:path h="3588004" w="7339964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lnTo>
                    <a:pt x="7052945" y="0"/>
                  </a:lnTo>
                  <a:cubicBezTo>
                    <a:pt x="7211440" y="0"/>
                    <a:pt x="7339964" y="128524"/>
                    <a:pt x="7339964" y="287020"/>
                  </a:cubicBezTo>
                  <a:lnTo>
                    <a:pt x="7339964" y="3300984"/>
                  </a:lnTo>
                  <a:cubicBezTo>
                    <a:pt x="7339964" y="3459480"/>
                    <a:pt x="7211440" y="3588004"/>
                    <a:pt x="7052945" y="3588004"/>
                  </a:cubicBezTo>
                  <a:lnTo>
                    <a:pt x="287020" y="3588004"/>
                  </a:lnTo>
                  <a:cubicBezTo>
                    <a:pt x="128524" y="3588004"/>
                    <a:pt x="0" y="3459480"/>
                    <a:pt x="0" y="3300984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591935" y="5620807"/>
            <a:ext cx="110385" cy="2691013"/>
            <a:chOff x="0" y="0"/>
            <a:chExt cx="147180" cy="35880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7193" cy="3588004"/>
            </a:xfrm>
            <a:custGeom>
              <a:avLst/>
              <a:gdLst/>
              <a:ahLst/>
              <a:cxnLst/>
              <a:rect r="r" b="b" t="t" l="l"/>
              <a:pathLst>
                <a:path h="3588004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3588004"/>
                  </a:lnTo>
                  <a:lnTo>
                    <a:pt x="0" y="3588004"/>
                  </a:lnTo>
                  <a:close/>
                </a:path>
              </a:pathLst>
            </a:custGeom>
            <a:solidFill>
              <a:srgbClr val="FFB44B"/>
            </a:solidFill>
            <a:ln w="14299" cap="sq">
              <a:solidFill>
                <a:srgbClr val="FFB44B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937955" y="622240"/>
            <a:ext cx="16243363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Phase 1 — Reconnaissance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21514" y="704602"/>
            <a:ext cx="2997070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04 • EVIDENCE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272759" y="9754714"/>
            <a:ext cx="388991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CBCCF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9141" y="9764239"/>
            <a:ext cx="13360746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CYBERSECURITY MAJOR PROJECT  •  AUTHORIZED LAB ONLY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16406" y="2036093"/>
            <a:ext cx="16106099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F5F8FC"/>
                </a:solidFill>
                <a:latin typeface="Aptos"/>
                <a:ea typeface="Aptos"/>
                <a:cs typeface="Aptos"/>
                <a:sym typeface="Aptos"/>
              </a:rPr>
              <a:t>Purpose: identify which services are exposed on the active Bounty Hacker target before choosing what to examine next.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9759" y="3289430"/>
            <a:ext cx="9448629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SCREENSHOT PLACEHOLDER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87024" y="7585891"/>
            <a:ext cx="9174099" cy="35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i="true">
                <a:solidFill>
                  <a:srgbClr val="ACBCCF"/>
                </a:solidFill>
                <a:latin typeface="Aptos Italics"/>
                <a:ea typeface="Aptos Italics"/>
                <a:cs typeface="Aptos Italics"/>
                <a:sym typeface="Aptos Italics"/>
              </a:rPr>
              <a:t>Replace this box with your own screenshot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46788" y="3381318"/>
            <a:ext cx="4822727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Capture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46788" y="4067651"/>
            <a:ext cx="4822727" cy="97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Target IP, scan options, open ports, service names/versions and timestamp.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46788" y="5920759"/>
            <a:ext cx="4822727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Your observation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946788" y="6607092"/>
            <a:ext cx="4822727" cy="1459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[Summarize the services shown by your actual scan. Verify every detail before submission.]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9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2543" y="1530248"/>
            <a:ext cx="1181071" cy="76067"/>
            <a:chOff x="0" y="0"/>
            <a:chExt cx="1574762" cy="101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4800" cy="101473"/>
            </a:xfrm>
            <a:custGeom>
              <a:avLst/>
              <a:gdLst/>
              <a:ahLst/>
              <a:cxnLst/>
              <a:rect r="r" b="b" t="t" l="l"/>
              <a:pathLst>
                <a:path h="101473" w="1574800">
                  <a:moveTo>
                    <a:pt x="0" y="0"/>
                  </a:moveTo>
                  <a:lnTo>
                    <a:pt x="1574800" y="0"/>
                  </a:lnTo>
                  <a:lnTo>
                    <a:pt x="1574800" y="101473"/>
                  </a:lnTo>
                  <a:lnTo>
                    <a:pt x="0" y="101473"/>
                  </a:lnTo>
                  <a:close/>
                </a:path>
              </a:pathLst>
            </a:custGeom>
            <a:solidFill>
              <a:srgbClr val="28D2DC"/>
            </a:solid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90984" y="2257758"/>
            <a:ext cx="8387601" cy="5299091"/>
            <a:chOff x="0" y="0"/>
            <a:chExt cx="11183468" cy="70654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183493" cy="7065518"/>
            </a:xfrm>
            <a:custGeom>
              <a:avLst/>
              <a:gdLst/>
              <a:ahLst/>
              <a:cxnLst/>
              <a:rect r="r" b="b" t="t" l="l"/>
              <a:pathLst>
                <a:path h="7065518" w="11183493">
                  <a:moveTo>
                    <a:pt x="0" y="565277"/>
                  </a:moveTo>
                  <a:cubicBezTo>
                    <a:pt x="0" y="253111"/>
                    <a:pt x="253111" y="0"/>
                    <a:pt x="565277" y="0"/>
                  </a:cubicBezTo>
                  <a:lnTo>
                    <a:pt x="10618216" y="0"/>
                  </a:lnTo>
                  <a:cubicBezTo>
                    <a:pt x="10930382" y="0"/>
                    <a:pt x="11183493" y="253111"/>
                    <a:pt x="11183493" y="565277"/>
                  </a:cubicBezTo>
                  <a:lnTo>
                    <a:pt x="11183493" y="6500241"/>
                  </a:lnTo>
                  <a:cubicBezTo>
                    <a:pt x="11183493" y="6812407"/>
                    <a:pt x="10930382" y="7065518"/>
                    <a:pt x="10618216" y="7065518"/>
                  </a:cubicBezTo>
                  <a:lnTo>
                    <a:pt x="565277" y="7065518"/>
                  </a:lnTo>
                  <a:cubicBezTo>
                    <a:pt x="253111" y="7065391"/>
                    <a:pt x="0" y="6812407"/>
                    <a:pt x="0" y="6500241"/>
                  </a:cubicBezTo>
                  <a:close/>
                </a:path>
              </a:pathLst>
            </a:custGeom>
            <a:blipFill>
              <a:blip r:embed="rId2"/>
              <a:stretch>
                <a:fillRect l="-8675" t="0" r="-8675" b="0"/>
              </a:stretch>
            </a:blip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441304" y="4114581"/>
            <a:ext cx="7686961" cy="892237"/>
            <a:chOff x="0" y="0"/>
            <a:chExt cx="10249281" cy="11896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9288" cy="1189652"/>
            </a:xfrm>
            <a:custGeom>
              <a:avLst/>
              <a:gdLst/>
              <a:ahLst/>
              <a:cxnLst/>
              <a:rect r="r" b="b" t="t" l="l"/>
              <a:pathLst>
                <a:path h="1189652" w="10249288">
                  <a:moveTo>
                    <a:pt x="0" y="0"/>
                  </a:moveTo>
                  <a:lnTo>
                    <a:pt x="10249288" y="0"/>
                  </a:lnTo>
                  <a:lnTo>
                    <a:pt x="10249288" y="1189652"/>
                  </a:lnTo>
                  <a:lnTo>
                    <a:pt x="0" y="11896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13" r="0" b="-1819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0249281" cy="11896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44729" y="2257758"/>
            <a:ext cx="7152199" cy="2210572"/>
            <a:chOff x="0" y="0"/>
            <a:chExt cx="9536265" cy="29474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36303" cy="2947416"/>
            </a:xfrm>
            <a:custGeom>
              <a:avLst/>
              <a:gdLst/>
              <a:ahLst/>
              <a:cxnLst/>
              <a:rect r="r" b="b" t="t" l="l"/>
              <a:pathLst>
                <a:path h="2947416" w="9536303">
                  <a:moveTo>
                    <a:pt x="0" y="235839"/>
                  </a:moveTo>
                  <a:cubicBezTo>
                    <a:pt x="0" y="105537"/>
                    <a:pt x="105537" y="0"/>
                    <a:pt x="235839" y="0"/>
                  </a:cubicBezTo>
                  <a:lnTo>
                    <a:pt x="9300464" y="0"/>
                  </a:lnTo>
                  <a:cubicBezTo>
                    <a:pt x="9430639" y="0"/>
                    <a:pt x="9536303" y="105537"/>
                    <a:pt x="9536303" y="235839"/>
                  </a:cubicBezTo>
                  <a:lnTo>
                    <a:pt x="9536303" y="2711577"/>
                  </a:lnTo>
                  <a:cubicBezTo>
                    <a:pt x="9536303" y="2841752"/>
                    <a:pt x="9430766" y="2947416"/>
                    <a:pt x="9300464" y="2947416"/>
                  </a:cubicBezTo>
                  <a:lnTo>
                    <a:pt x="235839" y="2947416"/>
                  </a:lnTo>
                  <a:cubicBezTo>
                    <a:pt x="105537" y="2947416"/>
                    <a:pt x="0" y="2841879"/>
                    <a:pt x="0" y="2711577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944729" y="2257758"/>
            <a:ext cx="110385" cy="2210572"/>
            <a:chOff x="0" y="0"/>
            <a:chExt cx="147180" cy="29474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7193" cy="2947416"/>
            </a:xfrm>
            <a:custGeom>
              <a:avLst/>
              <a:gdLst/>
              <a:ahLst/>
              <a:cxnLst/>
              <a:rect r="r" b="b" t="t" l="l"/>
              <a:pathLst>
                <a:path h="2947416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2947416"/>
                  </a:lnTo>
                  <a:lnTo>
                    <a:pt x="0" y="2947416"/>
                  </a:lnTo>
                  <a:close/>
                </a:path>
              </a:pathLst>
            </a:custGeom>
            <a:solidFill>
              <a:srgbClr val="28D2DC"/>
            </a:solid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944729" y="4797200"/>
            <a:ext cx="7152199" cy="2759640"/>
            <a:chOff x="0" y="0"/>
            <a:chExt cx="9536265" cy="3679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36303" cy="3679571"/>
            </a:xfrm>
            <a:custGeom>
              <a:avLst/>
              <a:gdLst/>
              <a:ahLst/>
              <a:cxnLst/>
              <a:rect r="r" b="b" t="t" l="l"/>
              <a:pathLst>
                <a:path h="3679571" w="9536303">
                  <a:moveTo>
                    <a:pt x="0" y="294386"/>
                  </a:moveTo>
                  <a:cubicBezTo>
                    <a:pt x="0" y="131826"/>
                    <a:pt x="131826" y="0"/>
                    <a:pt x="294386" y="0"/>
                  </a:cubicBezTo>
                  <a:lnTo>
                    <a:pt x="9241917" y="0"/>
                  </a:lnTo>
                  <a:cubicBezTo>
                    <a:pt x="9404477" y="0"/>
                    <a:pt x="9536303" y="131826"/>
                    <a:pt x="9536303" y="294386"/>
                  </a:cubicBezTo>
                  <a:lnTo>
                    <a:pt x="9536303" y="3385185"/>
                  </a:lnTo>
                  <a:cubicBezTo>
                    <a:pt x="9536303" y="3547745"/>
                    <a:pt x="9404477" y="3679571"/>
                    <a:pt x="9241917" y="3679571"/>
                  </a:cubicBezTo>
                  <a:lnTo>
                    <a:pt x="294386" y="3679571"/>
                  </a:lnTo>
                  <a:cubicBezTo>
                    <a:pt x="131826" y="3679571"/>
                    <a:pt x="0" y="3547745"/>
                    <a:pt x="0" y="3385185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944729" y="4797200"/>
            <a:ext cx="110385" cy="2759640"/>
            <a:chOff x="0" y="0"/>
            <a:chExt cx="147180" cy="3679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7193" cy="3679571"/>
            </a:xfrm>
            <a:custGeom>
              <a:avLst/>
              <a:gdLst/>
              <a:ahLst/>
              <a:cxnLst/>
              <a:rect r="r" b="b" t="t" l="l"/>
              <a:pathLst>
                <a:path h="3679571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3679571"/>
                  </a:lnTo>
                  <a:lnTo>
                    <a:pt x="0" y="3679571"/>
                  </a:lnTo>
                  <a:close/>
                </a:path>
              </a:pathLst>
            </a:custGeom>
            <a:solidFill>
              <a:srgbClr val="FFB44B"/>
            </a:solidFill>
            <a:ln w="14299" cap="sq">
              <a:solidFill>
                <a:srgbClr val="FFB44B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937955" y="622240"/>
            <a:ext cx="16243363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Phase 2 — Enumeration &amp; Initial Access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21514" y="704602"/>
            <a:ext cx="2997070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05 • EVIDENCE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272759" y="9754714"/>
            <a:ext cx="388991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CBCCF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9141" y="9764239"/>
            <a:ext cx="13360746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CYBERSECURITY MAJOR PROJECT  •  AUTHORIZED LAB ONLY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9759" y="2465822"/>
            <a:ext cx="7870060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SCREENSHOT PLACEHOLDER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87024" y="6830920"/>
            <a:ext cx="7595521" cy="35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i="true">
                <a:solidFill>
                  <a:srgbClr val="ACBCCF"/>
                </a:solidFill>
                <a:latin typeface="Aptos Italics"/>
                <a:ea typeface="Aptos Italics"/>
                <a:cs typeface="Aptos Italics"/>
                <a:sym typeface="Aptos Italics"/>
              </a:rPr>
              <a:t>Replace this box with your own screenshot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99583" y="2557710"/>
            <a:ext cx="6469932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Evidence notes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99583" y="3234519"/>
            <a:ext cx="6469932" cy="98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Explain what you inspected, what information was exposed, and what the output actually showed.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99583" y="5097151"/>
            <a:ext cx="6469932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Initial access path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99583" y="5783485"/>
            <a:ext cx="6469932" cy="152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[Describe the actual steps used in Bounty Hacker. Do not publish passwords or flags.]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2494" y="8213122"/>
            <a:ext cx="15968824" cy="80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B44B"/>
                </a:solidFill>
                <a:latin typeface="Aptos Bold"/>
                <a:ea typeface="Aptos Bold"/>
                <a:cs typeface="Aptos Bold"/>
                <a:sym typeface="Aptos Bold"/>
              </a:rPr>
              <a:t>Scope reminder: the college brief separately names file-upload testing and PHP web shells. If these were not part of Bounty Hacker, list them as additional requirements to verify.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9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2543" y="1530248"/>
            <a:ext cx="1181071" cy="76067"/>
            <a:chOff x="0" y="0"/>
            <a:chExt cx="1574762" cy="101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4800" cy="101473"/>
            </a:xfrm>
            <a:custGeom>
              <a:avLst/>
              <a:gdLst/>
              <a:ahLst/>
              <a:cxnLst/>
              <a:rect r="r" b="b" t="t" l="l"/>
              <a:pathLst>
                <a:path h="101473" w="1574800">
                  <a:moveTo>
                    <a:pt x="0" y="0"/>
                  </a:moveTo>
                  <a:lnTo>
                    <a:pt x="1574800" y="0"/>
                  </a:lnTo>
                  <a:lnTo>
                    <a:pt x="1574800" y="101473"/>
                  </a:lnTo>
                  <a:lnTo>
                    <a:pt x="0" y="101473"/>
                  </a:lnTo>
                  <a:close/>
                </a:path>
              </a:pathLst>
            </a:custGeom>
            <a:solidFill>
              <a:srgbClr val="28D2DC"/>
            </a:solid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90984" y="2257758"/>
            <a:ext cx="8456238" cy="5436356"/>
            <a:chOff x="0" y="0"/>
            <a:chExt cx="11274984" cy="72484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274933" cy="7248525"/>
            </a:xfrm>
            <a:custGeom>
              <a:avLst/>
              <a:gdLst/>
              <a:ahLst/>
              <a:cxnLst/>
              <a:rect r="r" b="b" t="t" l="l"/>
              <a:pathLst>
                <a:path h="7248525" w="11274933">
                  <a:moveTo>
                    <a:pt x="0" y="579882"/>
                  </a:moveTo>
                  <a:cubicBezTo>
                    <a:pt x="0" y="259588"/>
                    <a:pt x="259588" y="0"/>
                    <a:pt x="579882" y="0"/>
                  </a:cubicBezTo>
                  <a:lnTo>
                    <a:pt x="10695051" y="0"/>
                  </a:lnTo>
                  <a:cubicBezTo>
                    <a:pt x="11015345" y="0"/>
                    <a:pt x="11274933" y="259588"/>
                    <a:pt x="11274933" y="579882"/>
                  </a:cubicBezTo>
                  <a:lnTo>
                    <a:pt x="11274933" y="6668643"/>
                  </a:lnTo>
                  <a:cubicBezTo>
                    <a:pt x="11274933" y="6988937"/>
                    <a:pt x="11015345" y="7248525"/>
                    <a:pt x="10695051" y="7248525"/>
                  </a:cubicBezTo>
                  <a:lnTo>
                    <a:pt x="579882" y="7248525"/>
                  </a:lnTo>
                  <a:cubicBezTo>
                    <a:pt x="259588" y="7248525"/>
                    <a:pt x="0" y="6988810"/>
                    <a:pt x="0" y="6668643"/>
                  </a:cubicBezTo>
                  <a:close/>
                </a:path>
              </a:pathLst>
            </a:custGeom>
            <a:blipFill>
              <a:blip r:embed="rId2"/>
              <a:stretch>
                <a:fillRect l="-5634" t="0" r="-5634" b="0"/>
              </a:stretch>
            </a:blip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441304" y="4162625"/>
            <a:ext cx="7755598" cy="892237"/>
            <a:chOff x="0" y="0"/>
            <a:chExt cx="10340797" cy="11896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40799" cy="1189652"/>
            </a:xfrm>
            <a:custGeom>
              <a:avLst/>
              <a:gdLst/>
              <a:ahLst/>
              <a:cxnLst/>
              <a:rect r="r" b="b" t="t" l="l"/>
              <a:pathLst>
                <a:path h="1189652" w="10340799">
                  <a:moveTo>
                    <a:pt x="0" y="0"/>
                  </a:moveTo>
                  <a:lnTo>
                    <a:pt x="10340799" y="0"/>
                  </a:lnTo>
                  <a:lnTo>
                    <a:pt x="10340799" y="1189652"/>
                  </a:lnTo>
                  <a:lnTo>
                    <a:pt x="0" y="11896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110" r="0" b="-20111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0340797" cy="11896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13356" y="2257758"/>
            <a:ext cx="7014924" cy="2141944"/>
            <a:chOff x="0" y="0"/>
            <a:chExt cx="9353232" cy="28559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53296" cy="2855976"/>
            </a:xfrm>
            <a:custGeom>
              <a:avLst/>
              <a:gdLst/>
              <a:ahLst/>
              <a:cxnLst/>
              <a:rect r="r" b="b" t="t" l="l"/>
              <a:pathLst>
                <a:path h="2855976" w="9353296">
                  <a:moveTo>
                    <a:pt x="0" y="228473"/>
                  </a:moveTo>
                  <a:cubicBezTo>
                    <a:pt x="0" y="102235"/>
                    <a:pt x="102235" y="0"/>
                    <a:pt x="228473" y="0"/>
                  </a:cubicBezTo>
                  <a:lnTo>
                    <a:pt x="9124823" y="0"/>
                  </a:lnTo>
                  <a:cubicBezTo>
                    <a:pt x="9251061" y="0"/>
                    <a:pt x="9353296" y="102235"/>
                    <a:pt x="9353296" y="228473"/>
                  </a:cubicBezTo>
                  <a:lnTo>
                    <a:pt x="9353296" y="2627503"/>
                  </a:lnTo>
                  <a:cubicBezTo>
                    <a:pt x="9353296" y="2753741"/>
                    <a:pt x="9251061" y="2855976"/>
                    <a:pt x="9124823" y="2855976"/>
                  </a:cubicBezTo>
                  <a:lnTo>
                    <a:pt x="228473" y="2855976"/>
                  </a:lnTo>
                  <a:cubicBezTo>
                    <a:pt x="102235" y="2855976"/>
                    <a:pt x="0" y="2753614"/>
                    <a:pt x="0" y="2627503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013356" y="2257758"/>
            <a:ext cx="110385" cy="2141944"/>
            <a:chOff x="0" y="0"/>
            <a:chExt cx="147180" cy="28559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7193" cy="2855976"/>
            </a:xfrm>
            <a:custGeom>
              <a:avLst/>
              <a:gdLst/>
              <a:ahLst/>
              <a:cxnLst/>
              <a:rect r="r" b="b" t="t" l="l"/>
              <a:pathLst>
                <a:path h="2855976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2855976"/>
                  </a:lnTo>
                  <a:lnTo>
                    <a:pt x="0" y="2855976"/>
                  </a:lnTo>
                  <a:close/>
                </a:path>
              </a:pathLst>
            </a:custGeom>
            <a:solidFill>
              <a:srgbClr val="28D2DC"/>
            </a:solid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013356" y="4728572"/>
            <a:ext cx="7014924" cy="2965542"/>
            <a:chOff x="0" y="0"/>
            <a:chExt cx="9353232" cy="39540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353296" cy="3954145"/>
            </a:xfrm>
            <a:custGeom>
              <a:avLst/>
              <a:gdLst/>
              <a:ahLst/>
              <a:cxnLst/>
              <a:rect r="r" b="b" t="t" l="l"/>
              <a:pathLst>
                <a:path h="3954145" w="9353296">
                  <a:moveTo>
                    <a:pt x="0" y="316357"/>
                  </a:moveTo>
                  <a:cubicBezTo>
                    <a:pt x="0" y="141605"/>
                    <a:pt x="141605" y="0"/>
                    <a:pt x="316357" y="0"/>
                  </a:cubicBezTo>
                  <a:lnTo>
                    <a:pt x="9036939" y="0"/>
                  </a:lnTo>
                  <a:cubicBezTo>
                    <a:pt x="9211691" y="0"/>
                    <a:pt x="9353296" y="141605"/>
                    <a:pt x="9353296" y="316357"/>
                  </a:cubicBezTo>
                  <a:lnTo>
                    <a:pt x="9353296" y="3637788"/>
                  </a:lnTo>
                  <a:cubicBezTo>
                    <a:pt x="9353296" y="3812540"/>
                    <a:pt x="9211691" y="3954145"/>
                    <a:pt x="9036939" y="3954145"/>
                  </a:cubicBezTo>
                  <a:lnTo>
                    <a:pt x="316357" y="3954145"/>
                  </a:lnTo>
                  <a:cubicBezTo>
                    <a:pt x="141605" y="3954018"/>
                    <a:pt x="0" y="3812413"/>
                    <a:pt x="0" y="3637788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013356" y="4728572"/>
            <a:ext cx="110385" cy="2965542"/>
            <a:chOff x="0" y="0"/>
            <a:chExt cx="147180" cy="39540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7193" cy="3954018"/>
            </a:xfrm>
            <a:custGeom>
              <a:avLst/>
              <a:gdLst/>
              <a:ahLst/>
              <a:cxnLst/>
              <a:rect r="r" b="b" t="t" l="l"/>
              <a:pathLst>
                <a:path h="3954018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3954018"/>
                  </a:lnTo>
                  <a:lnTo>
                    <a:pt x="0" y="3954018"/>
                  </a:lnTo>
                  <a:close/>
                </a:path>
              </a:pathLst>
            </a:custGeom>
            <a:solidFill>
              <a:srgbClr val="5AD29B"/>
            </a:solidFill>
            <a:ln w="14299" cap="sq">
              <a:solidFill>
                <a:srgbClr val="5AD29B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937955" y="622240"/>
            <a:ext cx="16243363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Phase 3 — Access &amp; Privilege Review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21514" y="704602"/>
            <a:ext cx="2997070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06 • EVIDENCE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272759" y="9754714"/>
            <a:ext cx="388991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CBCCF"/>
                </a:solidFill>
                <a:latin typeface="Aptos Bold"/>
                <a:ea typeface="Aptos Bold"/>
                <a:cs typeface="Aptos Bold"/>
                <a:sym typeface="Aptos Bold"/>
              </a:rPr>
              <a:t>07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9141" y="9764239"/>
            <a:ext cx="13360746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CYBERSECURITY MAJOR PROJECT  •  AUTHORIZED LAB ONLY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9759" y="2465822"/>
            <a:ext cx="7938697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SCREENSHOT PLACEHOLDER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87024" y="6968195"/>
            <a:ext cx="7664158" cy="35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i="true">
                <a:solidFill>
                  <a:srgbClr val="ACBCCF"/>
                </a:solidFill>
                <a:latin typeface="Aptos Italics"/>
                <a:ea typeface="Aptos Italics"/>
                <a:cs typeface="Aptos Italics"/>
                <a:sym typeface="Aptos Italics"/>
              </a:rPr>
              <a:t>Replace this box with your own screenshot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68220" y="2557710"/>
            <a:ext cx="6332668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Proof of access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68220" y="3244044"/>
            <a:ext cx="6332668" cy="91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Show the successful session and harmless verification output. Redact secrets.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368220" y="5028524"/>
            <a:ext cx="6332668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What it demonstrates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68220" y="5714857"/>
            <a:ext cx="6332668" cy="1734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[State the user and privilege level actually shown by your evidence.]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2494" y="8350387"/>
            <a:ext cx="15831560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B44B"/>
                </a:solidFill>
                <a:latin typeface="Aptos Bold"/>
                <a:ea typeface="Aptos Bold"/>
                <a:cs typeface="Aptos Bold"/>
                <a:sym typeface="Aptos Bold"/>
              </a:rPr>
              <a:t>Do not claim web-shell persistence, Meterpreter or root access unless your evidence demonstrates it.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D19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622240"/>
            <a:ext cx="16243363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Findings &amp; Risk Assessment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2543" y="1530248"/>
            <a:ext cx="1181071" cy="76067"/>
            <a:chOff x="0" y="0"/>
            <a:chExt cx="1574762" cy="1014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74800" cy="101473"/>
            </a:xfrm>
            <a:custGeom>
              <a:avLst/>
              <a:gdLst/>
              <a:ahLst/>
              <a:cxnLst/>
              <a:rect r="r" b="b" t="t" l="l"/>
              <a:pathLst>
                <a:path h="101473" w="1574800">
                  <a:moveTo>
                    <a:pt x="0" y="0"/>
                  </a:moveTo>
                  <a:lnTo>
                    <a:pt x="1574800" y="0"/>
                  </a:lnTo>
                  <a:lnTo>
                    <a:pt x="1574800" y="101473"/>
                  </a:lnTo>
                  <a:lnTo>
                    <a:pt x="0" y="101473"/>
                  </a:lnTo>
                  <a:close/>
                </a:path>
              </a:pathLst>
            </a:custGeom>
            <a:solidFill>
              <a:srgbClr val="28D2DC"/>
            </a:solid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4321514" y="704602"/>
            <a:ext cx="2997070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07 •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72759" y="9754714"/>
            <a:ext cx="388991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CBCCF"/>
                </a:solidFill>
                <a:latin typeface="Aptos Bold"/>
                <a:ea typeface="Aptos Bold"/>
                <a:cs typeface="Aptos Bold"/>
                <a:sym typeface="Aptos Bold"/>
              </a:rPr>
              <a:t>08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9141" y="9764239"/>
            <a:ext cx="13360746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CYBERSECURITY MAJOR PROJECT  •  AUTHORIZED LAB ONLY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90984" y="2257758"/>
            <a:ext cx="2759640" cy="728091"/>
            <a:chOff x="0" y="0"/>
            <a:chExt cx="3679520" cy="9707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79698" cy="970788"/>
            </a:xfrm>
            <a:custGeom>
              <a:avLst/>
              <a:gdLst/>
              <a:ahLst/>
              <a:cxnLst/>
              <a:rect r="r" b="b" t="t" l="l"/>
              <a:pathLst>
                <a:path h="970788" w="3679698">
                  <a:moveTo>
                    <a:pt x="0" y="77724"/>
                  </a:moveTo>
                  <a:cubicBezTo>
                    <a:pt x="0" y="34798"/>
                    <a:pt x="34798" y="0"/>
                    <a:pt x="77724" y="0"/>
                  </a:cubicBezTo>
                  <a:lnTo>
                    <a:pt x="3601974" y="0"/>
                  </a:lnTo>
                  <a:cubicBezTo>
                    <a:pt x="3644900" y="0"/>
                    <a:pt x="3679698" y="34798"/>
                    <a:pt x="3679698" y="77724"/>
                  </a:cubicBezTo>
                  <a:lnTo>
                    <a:pt x="3679698" y="893064"/>
                  </a:lnTo>
                  <a:cubicBezTo>
                    <a:pt x="3679698" y="935990"/>
                    <a:pt x="3644900" y="970788"/>
                    <a:pt x="3601974" y="970788"/>
                  </a:cubicBezTo>
                  <a:lnTo>
                    <a:pt x="77724" y="970788"/>
                  </a:lnTo>
                  <a:cubicBezTo>
                    <a:pt x="34798" y="970788"/>
                    <a:pt x="0" y="935990"/>
                    <a:pt x="0" y="893064"/>
                  </a:cubicBezTo>
                  <a:close/>
                </a:path>
              </a:pathLst>
            </a:custGeom>
            <a:solidFill>
              <a:srgbClr val="162843"/>
            </a:solidFill>
            <a:ln w="14299" cap="sq">
              <a:solidFill>
                <a:srgbClr val="162843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253671" y="2489073"/>
            <a:ext cx="2434276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Finding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110866" y="2257758"/>
            <a:ext cx="4132316" cy="728091"/>
            <a:chOff x="0" y="0"/>
            <a:chExt cx="5509755" cy="9707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09768" cy="970788"/>
            </a:xfrm>
            <a:custGeom>
              <a:avLst/>
              <a:gdLst/>
              <a:ahLst/>
              <a:cxnLst/>
              <a:rect r="r" b="b" t="t" l="l"/>
              <a:pathLst>
                <a:path h="970788" w="5509768">
                  <a:moveTo>
                    <a:pt x="0" y="77724"/>
                  </a:moveTo>
                  <a:cubicBezTo>
                    <a:pt x="0" y="34798"/>
                    <a:pt x="34798" y="0"/>
                    <a:pt x="77724" y="0"/>
                  </a:cubicBezTo>
                  <a:lnTo>
                    <a:pt x="5432044" y="0"/>
                  </a:lnTo>
                  <a:cubicBezTo>
                    <a:pt x="5474970" y="0"/>
                    <a:pt x="5509768" y="34798"/>
                    <a:pt x="5509768" y="77724"/>
                  </a:cubicBezTo>
                  <a:lnTo>
                    <a:pt x="5509768" y="893064"/>
                  </a:lnTo>
                  <a:cubicBezTo>
                    <a:pt x="5509768" y="935990"/>
                    <a:pt x="5474970" y="970788"/>
                    <a:pt x="5432044" y="970788"/>
                  </a:cubicBezTo>
                  <a:lnTo>
                    <a:pt x="77724" y="970788"/>
                  </a:lnTo>
                  <a:cubicBezTo>
                    <a:pt x="34798" y="970788"/>
                    <a:pt x="0" y="935990"/>
                    <a:pt x="0" y="893064"/>
                  </a:cubicBezTo>
                  <a:close/>
                </a:path>
              </a:pathLst>
            </a:custGeom>
            <a:solidFill>
              <a:srgbClr val="162843"/>
            </a:solidFill>
            <a:ln w="14299" cap="sq">
              <a:solidFill>
                <a:srgbClr val="162843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4273553" y="2489073"/>
            <a:ext cx="3806952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Proof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366150" y="2257758"/>
            <a:ext cx="3857777" cy="728091"/>
            <a:chOff x="0" y="0"/>
            <a:chExt cx="5143703" cy="9707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43754" cy="970788"/>
            </a:xfrm>
            <a:custGeom>
              <a:avLst/>
              <a:gdLst/>
              <a:ahLst/>
              <a:cxnLst/>
              <a:rect r="r" b="b" t="t" l="l"/>
              <a:pathLst>
                <a:path h="970788" w="5143754">
                  <a:moveTo>
                    <a:pt x="0" y="77724"/>
                  </a:moveTo>
                  <a:cubicBezTo>
                    <a:pt x="0" y="34798"/>
                    <a:pt x="34798" y="0"/>
                    <a:pt x="77724" y="0"/>
                  </a:cubicBezTo>
                  <a:lnTo>
                    <a:pt x="5066030" y="0"/>
                  </a:lnTo>
                  <a:cubicBezTo>
                    <a:pt x="5108956" y="0"/>
                    <a:pt x="5143754" y="34798"/>
                    <a:pt x="5143754" y="77724"/>
                  </a:cubicBezTo>
                  <a:lnTo>
                    <a:pt x="5143754" y="893064"/>
                  </a:lnTo>
                  <a:cubicBezTo>
                    <a:pt x="5143754" y="935990"/>
                    <a:pt x="5108956" y="970788"/>
                    <a:pt x="5066030" y="970788"/>
                  </a:cubicBezTo>
                  <a:lnTo>
                    <a:pt x="77724" y="970788"/>
                  </a:lnTo>
                  <a:cubicBezTo>
                    <a:pt x="34798" y="970788"/>
                    <a:pt x="0" y="935990"/>
                    <a:pt x="0" y="893064"/>
                  </a:cubicBezTo>
                  <a:close/>
                </a:path>
              </a:pathLst>
            </a:custGeom>
            <a:solidFill>
              <a:srgbClr val="162843"/>
            </a:solidFill>
            <a:ln w="14299" cap="sq">
              <a:solidFill>
                <a:srgbClr val="162843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8528837" y="2489073"/>
            <a:ext cx="3532413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Risk / impact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346905" y="2257758"/>
            <a:ext cx="4681385" cy="728091"/>
            <a:chOff x="0" y="0"/>
            <a:chExt cx="6241847" cy="9707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41923" cy="970788"/>
            </a:xfrm>
            <a:custGeom>
              <a:avLst/>
              <a:gdLst/>
              <a:ahLst/>
              <a:cxnLst/>
              <a:rect r="r" b="b" t="t" l="l"/>
              <a:pathLst>
                <a:path h="970788" w="6241923">
                  <a:moveTo>
                    <a:pt x="0" y="77724"/>
                  </a:moveTo>
                  <a:cubicBezTo>
                    <a:pt x="0" y="34798"/>
                    <a:pt x="34798" y="0"/>
                    <a:pt x="77724" y="0"/>
                  </a:cubicBezTo>
                  <a:lnTo>
                    <a:pt x="6164199" y="0"/>
                  </a:lnTo>
                  <a:cubicBezTo>
                    <a:pt x="6207125" y="0"/>
                    <a:pt x="6241923" y="34798"/>
                    <a:pt x="6241923" y="77724"/>
                  </a:cubicBezTo>
                  <a:lnTo>
                    <a:pt x="6241923" y="893064"/>
                  </a:lnTo>
                  <a:cubicBezTo>
                    <a:pt x="6241923" y="935990"/>
                    <a:pt x="6207125" y="970788"/>
                    <a:pt x="6164199" y="970788"/>
                  </a:cubicBezTo>
                  <a:lnTo>
                    <a:pt x="77724" y="970788"/>
                  </a:lnTo>
                  <a:cubicBezTo>
                    <a:pt x="34798" y="970788"/>
                    <a:pt x="0" y="935990"/>
                    <a:pt x="0" y="893064"/>
                  </a:cubicBezTo>
                  <a:close/>
                </a:path>
              </a:pathLst>
            </a:custGeom>
            <a:solidFill>
              <a:srgbClr val="162843"/>
            </a:solidFill>
            <a:ln w="14299" cap="sq">
              <a:solidFill>
                <a:srgbClr val="162843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2509583" y="2489073"/>
            <a:ext cx="4356021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Control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90984" y="3122543"/>
            <a:ext cx="2759640" cy="1222248"/>
            <a:chOff x="0" y="0"/>
            <a:chExt cx="3679520" cy="16296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79698" cy="1629664"/>
            </a:xfrm>
            <a:custGeom>
              <a:avLst/>
              <a:gdLst/>
              <a:ahLst/>
              <a:cxnLst/>
              <a:rect r="r" b="b" t="t" l="l"/>
              <a:pathLst>
                <a:path h="1629664" w="3679698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3549269" y="0"/>
                  </a:lnTo>
                  <a:cubicBezTo>
                    <a:pt x="3621278" y="0"/>
                    <a:pt x="3679698" y="58420"/>
                    <a:pt x="3679698" y="130429"/>
                  </a:cubicBezTo>
                  <a:lnTo>
                    <a:pt x="3679698" y="1499235"/>
                  </a:lnTo>
                  <a:cubicBezTo>
                    <a:pt x="3679698" y="1571244"/>
                    <a:pt x="3621278" y="1629664"/>
                    <a:pt x="3549269" y="1629664"/>
                  </a:cubicBezTo>
                  <a:lnTo>
                    <a:pt x="130429" y="1629664"/>
                  </a:lnTo>
                  <a:cubicBezTo>
                    <a:pt x="58420" y="1629664"/>
                    <a:pt x="0" y="1571244"/>
                    <a:pt x="0" y="1499235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281122" y="3340132"/>
            <a:ext cx="2379374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[Observed issue 1]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110866" y="3122543"/>
            <a:ext cx="4132316" cy="1222248"/>
            <a:chOff x="0" y="0"/>
            <a:chExt cx="5509755" cy="16296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509768" cy="1629664"/>
            </a:xfrm>
            <a:custGeom>
              <a:avLst/>
              <a:gdLst/>
              <a:ahLst/>
              <a:cxnLst/>
              <a:rect r="r" b="b" t="t" l="l"/>
              <a:pathLst>
                <a:path h="1629664" w="5509768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5379339" y="0"/>
                  </a:lnTo>
                  <a:cubicBezTo>
                    <a:pt x="5451348" y="0"/>
                    <a:pt x="5509768" y="58420"/>
                    <a:pt x="5509768" y="130429"/>
                  </a:cubicBezTo>
                  <a:lnTo>
                    <a:pt x="5509768" y="1499235"/>
                  </a:lnTo>
                  <a:cubicBezTo>
                    <a:pt x="5509768" y="1571244"/>
                    <a:pt x="5451348" y="1629664"/>
                    <a:pt x="5379339" y="1629664"/>
                  </a:cubicBezTo>
                  <a:lnTo>
                    <a:pt x="130429" y="1629664"/>
                  </a:lnTo>
                  <a:cubicBezTo>
                    <a:pt x="58420" y="1629664"/>
                    <a:pt x="0" y="1571244"/>
                    <a:pt x="0" y="1499235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4301004" y="3340132"/>
            <a:ext cx="3752040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[Screenshot / output]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366150" y="3122543"/>
            <a:ext cx="3857777" cy="1222248"/>
            <a:chOff x="0" y="0"/>
            <a:chExt cx="5143703" cy="16296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43754" cy="1629664"/>
            </a:xfrm>
            <a:custGeom>
              <a:avLst/>
              <a:gdLst/>
              <a:ahLst/>
              <a:cxnLst/>
              <a:rect r="r" b="b" t="t" l="l"/>
              <a:pathLst>
                <a:path h="1629664" w="5143754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5013325" y="0"/>
                  </a:lnTo>
                  <a:cubicBezTo>
                    <a:pt x="5085334" y="0"/>
                    <a:pt x="5143754" y="58420"/>
                    <a:pt x="5143754" y="130429"/>
                  </a:cubicBezTo>
                  <a:lnTo>
                    <a:pt x="5143754" y="1499235"/>
                  </a:lnTo>
                  <a:cubicBezTo>
                    <a:pt x="5143754" y="1571244"/>
                    <a:pt x="5085334" y="1629664"/>
                    <a:pt x="5013325" y="1629664"/>
                  </a:cubicBezTo>
                  <a:lnTo>
                    <a:pt x="130429" y="1629664"/>
                  </a:lnTo>
                  <a:cubicBezTo>
                    <a:pt x="58420" y="1629664"/>
                    <a:pt x="0" y="1571244"/>
                    <a:pt x="0" y="1499235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8556288" y="3340132"/>
            <a:ext cx="3477511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[Possible impact]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346905" y="3122543"/>
            <a:ext cx="4681385" cy="1222248"/>
            <a:chOff x="0" y="0"/>
            <a:chExt cx="6241847" cy="16296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241923" cy="1629664"/>
            </a:xfrm>
            <a:custGeom>
              <a:avLst/>
              <a:gdLst/>
              <a:ahLst/>
              <a:cxnLst/>
              <a:rect r="r" b="b" t="t" l="l"/>
              <a:pathLst>
                <a:path h="1629664" w="6241923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6111494" y="0"/>
                  </a:lnTo>
                  <a:cubicBezTo>
                    <a:pt x="6183503" y="0"/>
                    <a:pt x="6241923" y="58420"/>
                    <a:pt x="6241923" y="130429"/>
                  </a:cubicBezTo>
                  <a:lnTo>
                    <a:pt x="6241923" y="1499235"/>
                  </a:lnTo>
                  <a:cubicBezTo>
                    <a:pt x="6241923" y="1571244"/>
                    <a:pt x="6183503" y="1629664"/>
                    <a:pt x="6111494" y="1629664"/>
                  </a:cubicBezTo>
                  <a:lnTo>
                    <a:pt x="130429" y="1629664"/>
                  </a:lnTo>
                  <a:cubicBezTo>
                    <a:pt x="58420" y="1629664"/>
                    <a:pt x="0" y="1571244"/>
                    <a:pt x="0" y="1499235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2537043" y="3340132"/>
            <a:ext cx="4301109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[Recommended fix]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90984" y="4563847"/>
            <a:ext cx="2759640" cy="1222248"/>
            <a:chOff x="0" y="0"/>
            <a:chExt cx="3679520" cy="16296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79698" cy="1629664"/>
            </a:xfrm>
            <a:custGeom>
              <a:avLst/>
              <a:gdLst/>
              <a:ahLst/>
              <a:cxnLst/>
              <a:rect r="r" b="b" t="t" l="l"/>
              <a:pathLst>
                <a:path h="1629664" w="3679698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3549269" y="0"/>
                  </a:lnTo>
                  <a:cubicBezTo>
                    <a:pt x="3621278" y="0"/>
                    <a:pt x="3679698" y="58420"/>
                    <a:pt x="3679698" y="130429"/>
                  </a:cubicBezTo>
                  <a:lnTo>
                    <a:pt x="3679698" y="1499235"/>
                  </a:lnTo>
                  <a:cubicBezTo>
                    <a:pt x="3679698" y="1571244"/>
                    <a:pt x="3621278" y="1629664"/>
                    <a:pt x="3549269" y="1629664"/>
                  </a:cubicBezTo>
                  <a:lnTo>
                    <a:pt x="130429" y="1629664"/>
                  </a:lnTo>
                  <a:cubicBezTo>
                    <a:pt x="58420" y="1629664"/>
                    <a:pt x="0" y="1571244"/>
                    <a:pt x="0" y="1499235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281122" y="4781436"/>
            <a:ext cx="2379374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[Observed issue 2]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4110866" y="4563847"/>
            <a:ext cx="4132316" cy="1222248"/>
            <a:chOff x="0" y="0"/>
            <a:chExt cx="5509755" cy="16296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509768" cy="1629664"/>
            </a:xfrm>
            <a:custGeom>
              <a:avLst/>
              <a:gdLst/>
              <a:ahLst/>
              <a:cxnLst/>
              <a:rect r="r" b="b" t="t" l="l"/>
              <a:pathLst>
                <a:path h="1629664" w="5509768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5379339" y="0"/>
                  </a:lnTo>
                  <a:cubicBezTo>
                    <a:pt x="5451348" y="0"/>
                    <a:pt x="5509768" y="58420"/>
                    <a:pt x="5509768" y="130429"/>
                  </a:cubicBezTo>
                  <a:lnTo>
                    <a:pt x="5509768" y="1499235"/>
                  </a:lnTo>
                  <a:cubicBezTo>
                    <a:pt x="5509768" y="1571244"/>
                    <a:pt x="5451348" y="1629664"/>
                    <a:pt x="5379339" y="1629664"/>
                  </a:cubicBezTo>
                  <a:lnTo>
                    <a:pt x="130429" y="1629664"/>
                  </a:lnTo>
                  <a:cubicBezTo>
                    <a:pt x="58420" y="1629664"/>
                    <a:pt x="0" y="1571244"/>
                    <a:pt x="0" y="1499235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4301004" y="4781436"/>
            <a:ext cx="3752040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[Screenshot / output]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8366150" y="4563847"/>
            <a:ext cx="3857777" cy="1222248"/>
            <a:chOff x="0" y="0"/>
            <a:chExt cx="5143703" cy="16296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143754" cy="1629664"/>
            </a:xfrm>
            <a:custGeom>
              <a:avLst/>
              <a:gdLst/>
              <a:ahLst/>
              <a:cxnLst/>
              <a:rect r="r" b="b" t="t" l="l"/>
              <a:pathLst>
                <a:path h="1629664" w="5143754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5013325" y="0"/>
                  </a:lnTo>
                  <a:cubicBezTo>
                    <a:pt x="5085334" y="0"/>
                    <a:pt x="5143754" y="58420"/>
                    <a:pt x="5143754" y="130429"/>
                  </a:cubicBezTo>
                  <a:lnTo>
                    <a:pt x="5143754" y="1499235"/>
                  </a:lnTo>
                  <a:cubicBezTo>
                    <a:pt x="5143754" y="1571244"/>
                    <a:pt x="5085334" y="1629664"/>
                    <a:pt x="5013325" y="1629664"/>
                  </a:cubicBezTo>
                  <a:lnTo>
                    <a:pt x="130429" y="1629664"/>
                  </a:lnTo>
                  <a:cubicBezTo>
                    <a:pt x="58420" y="1629664"/>
                    <a:pt x="0" y="1571244"/>
                    <a:pt x="0" y="1499235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8556288" y="4781436"/>
            <a:ext cx="3477511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[Possible impact]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2346905" y="4563847"/>
            <a:ext cx="4681385" cy="1222248"/>
            <a:chOff x="0" y="0"/>
            <a:chExt cx="6241847" cy="16296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241923" cy="1629664"/>
            </a:xfrm>
            <a:custGeom>
              <a:avLst/>
              <a:gdLst/>
              <a:ahLst/>
              <a:cxnLst/>
              <a:rect r="r" b="b" t="t" l="l"/>
              <a:pathLst>
                <a:path h="1629664" w="6241923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6111494" y="0"/>
                  </a:lnTo>
                  <a:cubicBezTo>
                    <a:pt x="6183503" y="0"/>
                    <a:pt x="6241923" y="58420"/>
                    <a:pt x="6241923" y="130429"/>
                  </a:cubicBezTo>
                  <a:lnTo>
                    <a:pt x="6241923" y="1499235"/>
                  </a:lnTo>
                  <a:cubicBezTo>
                    <a:pt x="6241923" y="1571244"/>
                    <a:pt x="6183503" y="1629664"/>
                    <a:pt x="6111494" y="1629664"/>
                  </a:cubicBezTo>
                  <a:lnTo>
                    <a:pt x="130429" y="1629664"/>
                  </a:lnTo>
                  <a:cubicBezTo>
                    <a:pt x="58420" y="1629664"/>
                    <a:pt x="0" y="1571244"/>
                    <a:pt x="0" y="1499235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12537043" y="4781436"/>
            <a:ext cx="4301109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[Recommended fix]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090984" y="6005160"/>
            <a:ext cx="2759640" cy="1222248"/>
            <a:chOff x="0" y="0"/>
            <a:chExt cx="3679520" cy="162966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79698" cy="1629664"/>
            </a:xfrm>
            <a:custGeom>
              <a:avLst/>
              <a:gdLst/>
              <a:ahLst/>
              <a:cxnLst/>
              <a:rect r="r" b="b" t="t" l="l"/>
              <a:pathLst>
                <a:path h="1629664" w="3679698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3549269" y="0"/>
                  </a:lnTo>
                  <a:cubicBezTo>
                    <a:pt x="3621278" y="0"/>
                    <a:pt x="3679698" y="58420"/>
                    <a:pt x="3679698" y="130429"/>
                  </a:cubicBezTo>
                  <a:lnTo>
                    <a:pt x="3679698" y="1499235"/>
                  </a:lnTo>
                  <a:cubicBezTo>
                    <a:pt x="3679698" y="1571244"/>
                    <a:pt x="3621278" y="1629664"/>
                    <a:pt x="3549269" y="1629664"/>
                  </a:cubicBezTo>
                  <a:lnTo>
                    <a:pt x="130429" y="1629664"/>
                  </a:lnTo>
                  <a:cubicBezTo>
                    <a:pt x="58420" y="1629664"/>
                    <a:pt x="0" y="1571244"/>
                    <a:pt x="0" y="1499235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1281122" y="6222749"/>
            <a:ext cx="2379374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[Observed issue 3]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4110866" y="6005160"/>
            <a:ext cx="4132316" cy="1222248"/>
            <a:chOff x="0" y="0"/>
            <a:chExt cx="5509755" cy="16296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509768" cy="1629664"/>
            </a:xfrm>
            <a:custGeom>
              <a:avLst/>
              <a:gdLst/>
              <a:ahLst/>
              <a:cxnLst/>
              <a:rect r="r" b="b" t="t" l="l"/>
              <a:pathLst>
                <a:path h="1629664" w="5509768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5379339" y="0"/>
                  </a:lnTo>
                  <a:cubicBezTo>
                    <a:pt x="5451348" y="0"/>
                    <a:pt x="5509768" y="58420"/>
                    <a:pt x="5509768" y="130429"/>
                  </a:cubicBezTo>
                  <a:lnTo>
                    <a:pt x="5509768" y="1499235"/>
                  </a:lnTo>
                  <a:cubicBezTo>
                    <a:pt x="5509768" y="1571244"/>
                    <a:pt x="5451348" y="1629664"/>
                    <a:pt x="5379339" y="1629664"/>
                  </a:cubicBezTo>
                  <a:lnTo>
                    <a:pt x="130429" y="1629664"/>
                  </a:lnTo>
                  <a:cubicBezTo>
                    <a:pt x="58420" y="1629664"/>
                    <a:pt x="0" y="1571244"/>
                    <a:pt x="0" y="1499235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4301004" y="6222749"/>
            <a:ext cx="3752040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[Screenshot / output]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8366150" y="6005160"/>
            <a:ext cx="3857777" cy="1222248"/>
            <a:chOff x="0" y="0"/>
            <a:chExt cx="5143703" cy="16296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43754" cy="1629664"/>
            </a:xfrm>
            <a:custGeom>
              <a:avLst/>
              <a:gdLst/>
              <a:ahLst/>
              <a:cxnLst/>
              <a:rect r="r" b="b" t="t" l="l"/>
              <a:pathLst>
                <a:path h="1629664" w="5143754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5013325" y="0"/>
                  </a:lnTo>
                  <a:cubicBezTo>
                    <a:pt x="5085334" y="0"/>
                    <a:pt x="5143754" y="58420"/>
                    <a:pt x="5143754" y="130429"/>
                  </a:cubicBezTo>
                  <a:lnTo>
                    <a:pt x="5143754" y="1499235"/>
                  </a:lnTo>
                  <a:cubicBezTo>
                    <a:pt x="5143754" y="1571244"/>
                    <a:pt x="5085334" y="1629664"/>
                    <a:pt x="5013325" y="1629664"/>
                  </a:cubicBezTo>
                  <a:lnTo>
                    <a:pt x="130429" y="1629664"/>
                  </a:lnTo>
                  <a:cubicBezTo>
                    <a:pt x="58420" y="1629664"/>
                    <a:pt x="0" y="1571244"/>
                    <a:pt x="0" y="1499235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8556288" y="6222749"/>
            <a:ext cx="3477511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[Possible impact]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2346905" y="6005160"/>
            <a:ext cx="4681385" cy="1222248"/>
            <a:chOff x="0" y="0"/>
            <a:chExt cx="6241847" cy="16296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241923" cy="1629664"/>
            </a:xfrm>
            <a:custGeom>
              <a:avLst/>
              <a:gdLst/>
              <a:ahLst/>
              <a:cxnLst/>
              <a:rect r="r" b="b" t="t" l="l"/>
              <a:pathLst>
                <a:path h="1629664" w="6241923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6111494" y="0"/>
                  </a:lnTo>
                  <a:cubicBezTo>
                    <a:pt x="6183503" y="0"/>
                    <a:pt x="6241923" y="58420"/>
                    <a:pt x="6241923" y="130429"/>
                  </a:cubicBezTo>
                  <a:lnTo>
                    <a:pt x="6241923" y="1499235"/>
                  </a:lnTo>
                  <a:cubicBezTo>
                    <a:pt x="6241923" y="1571244"/>
                    <a:pt x="6183503" y="1629664"/>
                    <a:pt x="6111494" y="1629664"/>
                  </a:cubicBezTo>
                  <a:lnTo>
                    <a:pt x="130429" y="1629664"/>
                  </a:lnTo>
                  <a:cubicBezTo>
                    <a:pt x="58420" y="1629664"/>
                    <a:pt x="0" y="1571244"/>
                    <a:pt x="0" y="1499235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sp>
        <p:nvSpPr>
          <p:cNvPr name="TextBox 55" id="55"/>
          <p:cNvSpPr txBox="true"/>
          <p:nvPr/>
        </p:nvSpPr>
        <p:spPr>
          <a:xfrm rot="0">
            <a:off x="12537043" y="6222749"/>
            <a:ext cx="4301109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[Recommended fix]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12494" y="8075857"/>
            <a:ext cx="15694295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5F8FC"/>
                </a:solidFill>
                <a:latin typeface="Aptos"/>
                <a:ea typeface="Aptos"/>
                <a:cs typeface="Aptos"/>
                <a:sym typeface="Aptos"/>
              </a:rPr>
              <a:t>Rate each verified finding as Critical, High, Medium or Low, and explain the reasoning.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D19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622240"/>
            <a:ext cx="16243363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Cyber Kill Chain Mapping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2543" y="1530248"/>
            <a:ext cx="1181071" cy="76067"/>
            <a:chOff x="0" y="0"/>
            <a:chExt cx="1574762" cy="1014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74800" cy="101473"/>
            </a:xfrm>
            <a:custGeom>
              <a:avLst/>
              <a:gdLst/>
              <a:ahLst/>
              <a:cxnLst/>
              <a:rect r="r" b="b" t="t" l="l"/>
              <a:pathLst>
                <a:path h="101473" w="1574800">
                  <a:moveTo>
                    <a:pt x="0" y="0"/>
                  </a:moveTo>
                  <a:lnTo>
                    <a:pt x="1574800" y="0"/>
                  </a:lnTo>
                  <a:lnTo>
                    <a:pt x="1574800" y="101473"/>
                  </a:lnTo>
                  <a:lnTo>
                    <a:pt x="0" y="101473"/>
                  </a:lnTo>
                  <a:close/>
                </a:path>
              </a:pathLst>
            </a:custGeom>
            <a:solidFill>
              <a:srgbClr val="28D2DC"/>
            </a:solid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4321514" y="704602"/>
            <a:ext cx="2997070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08 •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72759" y="9754714"/>
            <a:ext cx="388991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CBCCF"/>
                </a:solidFill>
                <a:latin typeface="Aptos Bold"/>
                <a:ea typeface="Aptos Bold"/>
                <a:cs typeface="Aptos Bold"/>
                <a:sym typeface="Aptos Bold"/>
              </a:rPr>
              <a:t>09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9141" y="9764239"/>
            <a:ext cx="13360746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CYBERSECURITY MAJOR PROJECT  •  AUTHORIZED LAB ONLY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9621" y="2120494"/>
            <a:ext cx="3377346" cy="755542"/>
            <a:chOff x="0" y="0"/>
            <a:chExt cx="4503128" cy="10073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03166" cy="1007491"/>
            </a:xfrm>
            <a:custGeom>
              <a:avLst/>
              <a:gdLst/>
              <a:ahLst/>
              <a:cxnLst/>
              <a:rect r="r" b="b" t="t" l="l"/>
              <a:pathLst>
                <a:path h="1007491" w="4503166">
                  <a:moveTo>
                    <a:pt x="0" y="80645"/>
                  </a:moveTo>
                  <a:cubicBezTo>
                    <a:pt x="0" y="36068"/>
                    <a:pt x="36068" y="0"/>
                    <a:pt x="80645" y="0"/>
                  </a:cubicBezTo>
                  <a:lnTo>
                    <a:pt x="4422521" y="0"/>
                  </a:lnTo>
                  <a:cubicBezTo>
                    <a:pt x="4466971" y="0"/>
                    <a:pt x="4503166" y="36068"/>
                    <a:pt x="4503166" y="80645"/>
                  </a:cubicBezTo>
                  <a:lnTo>
                    <a:pt x="4503166" y="926846"/>
                  </a:lnTo>
                  <a:cubicBezTo>
                    <a:pt x="4503166" y="971296"/>
                    <a:pt x="4467098" y="1007491"/>
                    <a:pt x="4422521" y="1007491"/>
                  </a:cubicBezTo>
                  <a:lnTo>
                    <a:pt x="80645" y="1007491"/>
                  </a:lnTo>
                  <a:cubicBezTo>
                    <a:pt x="36068" y="1007364"/>
                    <a:pt x="0" y="971296"/>
                    <a:pt x="0" y="926846"/>
                  </a:cubicBezTo>
                  <a:close/>
                </a:path>
              </a:pathLst>
            </a:custGeom>
            <a:solidFill>
              <a:srgbClr val="162843"/>
            </a:solidFill>
            <a:ln w="14299" cap="sq">
              <a:solidFill>
                <a:srgbClr val="162843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390936" y="2338083"/>
            <a:ext cx="2900982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Reconnaissance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18710" y="2283181"/>
            <a:ext cx="11988079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Ports, services and relevant target details identified.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59621" y="3108817"/>
            <a:ext cx="3377346" cy="755542"/>
            <a:chOff x="0" y="0"/>
            <a:chExt cx="4503128" cy="10073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03166" cy="1007491"/>
            </a:xfrm>
            <a:custGeom>
              <a:avLst/>
              <a:gdLst/>
              <a:ahLst/>
              <a:cxnLst/>
              <a:rect r="r" b="b" t="t" l="l"/>
              <a:pathLst>
                <a:path h="1007491" w="4503166">
                  <a:moveTo>
                    <a:pt x="0" y="80645"/>
                  </a:moveTo>
                  <a:cubicBezTo>
                    <a:pt x="0" y="36068"/>
                    <a:pt x="36068" y="0"/>
                    <a:pt x="80645" y="0"/>
                  </a:cubicBezTo>
                  <a:lnTo>
                    <a:pt x="4422521" y="0"/>
                  </a:lnTo>
                  <a:cubicBezTo>
                    <a:pt x="4466971" y="0"/>
                    <a:pt x="4503166" y="36068"/>
                    <a:pt x="4503166" y="80645"/>
                  </a:cubicBezTo>
                  <a:lnTo>
                    <a:pt x="4503166" y="926846"/>
                  </a:lnTo>
                  <a:cubicBezTo>
                    <a:pt x="4503166" y="971296"/>
                    <a:pt x="4467098" y="1007491"/>
                    <a:pt x="4422521" y="1007491"/>
                  </a:cubicBezTo>
                  <a:lnTo>
                    <a:pt x="80645" y="1007491"/>
                  </a:lnTo>
                  <a:cubicBezTo>
                    <a:pt x="36068" y="1007364"/>
                    <a:pt x="0" y="971296"/>
                    <a:pt x="0" y="926846"/>
                  </a:cubicBezTo>
                  <a:close/>
                </a:path>
              </a:pathLst>
            </a:custGeom>
            <a:solidFill>
              <a:srgbClr val="162843"/>
            </a:solidFill>
            <a:ln w="14299" cap="sq">
              <a:solidFill>
                <a:srgbClr val="162843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390936" y="3326406"/>
            <a:ext cx="2900982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Weaponization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18710" y="3271504"/>
            <a:ext cx="11988079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Record only if applicable to your actual work.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59621" y="4097141"/>
            <a:ext cx="3377346" cy="755542"/>
            <a:chOff x="0" y="0"/>
            <a:chExt cx="4503128" cy="100738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03166" cy="1007491"/>
            </a:xfrm>
            <a:custGeom>
              <a:avLst/>
              <a:gdLst/>
              <a:ahLst/>
              <a:cxnLst/>
              <a:rect r="r" b="b" t="t" l="l"/>
              <a:pathLst>
                <a:path h="1007491" w="4503166">
                  <a:moveTo>
                    <a:pt x="0" y="80645"/>
                  </a:moveTo>
                  <a:cubicBezTo>
                    <a:pt x="0" y="36068"/>
                    <a:pt x="36068" y="0"/>
                    <a:pt x="80645" y="0"/>
                  </a:cubicBezTo>
                  <a:lnTo>
                    <a:pt x="4422521" y="0"/>
                  </a:lnTo>
                  <a:cubicBezTo>
                    <a:pt x="4466971" y="0"/>
                    <a:pt x="4503166" y="36068"/>
                    <a:pt x="4503166" y="80645"/>
                  </a:cubicBezTo>
                  <a:lnTo>
                    <a:pt x="4503166" y="926846"/>
                  </a:lnTo>
                  <a:cubicBezTo>
                    <a:pt x="4503166" y="971296"/>
                    <a:pt x="4467098" y="1007491"/>
                    <a:pt x="4422521" y="1007491"/>
                  </a:cubicBezTo>
                  <a:lnTo>
                    <a:pt x="80645" y="1007491"/>
                  </a:lnTo>
                  <a:cubicBezTo>
                    <a:pt x="36068" y="1007364"/>
                    <a:pt x="0" y="971296"/>
                    <a:pt x="0" y="926846"/>
                  </a:cubicBezTo>
                  <a:close/>
                </a:path>
              </a:pathLst>
            </a:custGeom>
            <a:solidFill>
              <a:srgbClr val="162843"/>
            </a:solidFill>
            <a:ln w="14299" cap="sq">
              <a:solidFill>
                <a:srgbClr val="162843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390936" y="4314730"/>
            <a:ext cx="2900982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Delivery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18710" y="4259828"/>
            <a:ext cx="11988079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Describe the lab access route you used.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59621" y="5085464"/>
            <a:ext cx="3377346" cy="755542"/>
            <a:chOff x="0" y="0"/>
            <a:chExt cx="4503128" cy="100738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03166" cy="1007491"/>
            </a:xfrm>
            <a:custGeom>
              <a:avLst/>
              <a:gdLst/>
              <a:ahLst/>
              <a:cxnLst/>
              <a:rect r="r" b="b" t="t" l="l"/>
              <a:pathLst>
                <a:path h="1007491" w="4503166">
                  <a:moveTo>
                    <a:pt x="0" y="80645"/>
                  </a:moveTo>
                  <a:cubicBezTo>
                    <a:pt x="0" y="36068"/>
                    <a:pt x="36068" y="0"/>
                    <a:pt x="80645" y="0"/>
                  </a:cubicBezTo>
                  <a:lnTo>
                    <a:pt x="4422521" y="0"/>
                  </a:lnTo>
                  <a:cubicBezTo>
                    <a:pt x="4466971" y="0"/>
                    <a:pt x="4503166" y="36068"/>
                    <a:pt x="4503166" y="80645"/>
                  </a:cubicBezTo>
                  <a:lnTo>
                    <a:pt x="4503166" y="926846"/>
                  </a:lnTo>
                  <a:cubicBezTo>
                    <a:pt x="4503166" y="971296"/>
                    <a:pt x="4467098" y="1007491"/>
                    <a:pt x="4422521" y="1007491"/>
                  </a:cubicBezTo>
                  <a:lnTo>
                    <a:pt x="80645" y="1007491"/>
                  </a:lnTo>
                  <a:cubicBezTo>
                    <a:pt x="36068" y="1007364"/>
                    <a:pt x="0" y="971296"/>
                    <a:pt x="0" y="926846"/>
                  </a:cubicBezTo>
                  <a:close/>
                </a:path>
              </a:pathLst>
            </a:custGeom>
            <a:solidFill>
              <a:srgbClr val="162843"/>
            </a:solidFill>
            <a:ln w="14299" cap="sq">
              <a:solidFill>
                <a:srgbClr val="162843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390936" y="5303053"/>
            <a:ext cx="2900982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Exploitation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18710" y="5248151"/>
            <a:ext cx="11988079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Summarize the weakness supported by evidence.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59621" y="6073788"/>
            <a:ext cx="3377346" cy="755542"/>
            <a:chOff x="0" y="0"/>
            <a:chExt cx="4503128" cy="100738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03166" cy="1007491"/>
            </a:xfrm>
            <a:custGeom>
              <a:avLst/>
              <a:gdLst/>
              <a:ahLst/>
              <a:cxnLst/>
              <a:rect r="r" b="b" t="t" l="l"/>
              <a:pathLst>
                <a:path h="1007491" w="4503166">
                  <a:moveTo>
                    <a:pt x="0" y="80645"/>
                  </a:moveTo>
                  <a:cubicBezTo>
                    <a:pt x="0" y="36068"/>
                    <a:pt x="36068" y="0"/>
                    <a:pt x="80645" y="0"/>
                  </a:cubicBezTo>
                  <a:lnTo>
                    <a:pt x="4422521" y="0"/>
                  </a:lnTo>
                  <a:cubicBezTo>
                    <a:pt x="4466971" y="0"/>
                    <a:pt x="4503166" y="36068"/>
                    <a:pt x="4503166" y="80645"/>
                  </a:cubicBezTo>
                  <a:lnTo>
                    <a:pt x="4503166" y="926846"/>
                  </a:lnTo>
                  <a:cubicBezTo>
                    <a:pt x="4503166" y="971296"/>
                    <a:pt x="4467098" y="1007491"/>
                    <a:pt x="4422521" y="1007491"/>
                  </a:cubicBezTo>
                  <a:lnTo>
                    <a:pt x="80645" y="1007491"/>
                  </a:lnTo>
                  <a:cubicBezTo>
                    <a:pt x="36068" y="1007364"/>
                    <a:pt x="0" y="971296"/>
                    <a:pt x="0" y="926846"/>
                  </a:cubicBezTo>
                  <a:close/>
                </a:path>
              </a:pathLst>
            </a:custGeom>
            <a:solidFill>
              <a:srgbClr val="162843"/>
            </a:solidFill>
            <a:ln w="14299" cap="sq">
              <a:solidFill>
                <a:srgbClr val="162843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390936" y="6291377"/>
            <a:ext cx="2900982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Installation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918710" y="6236475"/>
            <a:ext cx="11988079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Mark Not observed if the room did not involve persistence.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59621" y="7062111"/>
            <a:ext cx="3377346" cy="755542"/>
            <a:chOff x="0" y="0"/>
            <a:chExt cx="4503128" cy="100738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03166" cy="1007491"/>
            </a:xfrm>
            <a:custGeom>
              <a:avLst/>
              <a:gdLst/>
              <a:ahLst/>
              <a:cxnLst/>
              <a:rect r="r" b="b" t="t" l="l"/>
              <a:pathLst>
                <a:path h="1007491" w="4503166">
                  <a:moveTo>
                    <a:pt x="0" y="80645"/>
                  </a:moveTo>
                  <a:cubicBezTo>
                    <a:pt x="0" y="36068"/>
                    <a:pt x="36068" y="0"/>
                    <a:pt x="80645" y="0"/>
                  </a:cubicBezTo>
                  <a:lnTo>
                    <a:pt x="4422521" y="0"/>
                  </a:lnTo>
                  <a:cubicBezTo>
                    <a:pt x="4466971" y="0"/>
                    <a:pt x="4503166" y="36068"/>
                    <a:pt x="4503166" y="80645"/>
                  </a:cubicBezTo>
                  <a:lnTo>
                    <a:pt x="4503166" y="926846"/>
                  </a:lnTo>
                  <a:cubicBezTo>
                    <a:pt x="4503166" y="971296"/>
                    <a:pt x="4467098" y="1007491"/>
                    <a:pt x="4422521" y="1007491"/>
                  </a:cubicBezTo>
                  <a:lnTo>
                    <a:pt x="80645" y="1007491"/>
                  </a:lnTo>
                  <a:cubicBezTo>
                    <a:pt x="36068" y="1007364"/>
                    <a:pt x="0" y="971296"/>
                    <a:pt x="0" y="926846"/>
                  </a:cubicBezTo>
                  <a:close/>
                </a:path>
              </a:pathLst>
            </a:custGeom>
            <a:solidFill>
              <a:srgbClr val="162843"/>
            </a:solidFill>
            <a:ln w="14299" cap="sq">
              <a:solidFill>
                <a:srgbClr val="162843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390936" y="7279700"/>
            <a:ext cx="2900982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Command &amp; Control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918710" y="7224798"/>
            <a:ext cx="11988079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State what session type, if any, was actually obtained.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59621" y="8050435"/>
            <a:ext cx="3377346" cy="755542"/>
            <a:chOff x="0" y="0"/>
            <a:chExt cx="4503128" cy="100738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03166" cy="1007491"/>
            </a:xfrm>
            <a:custGeom>
              <a:avLst/>
              <a:gdLst/>
              <a:ahLst/>
              <a:cxnLst/>
              <a:rect r="r" b="b" t="t" l="l"/>
              <a:pathLst>
                <a:path h="1007491" w="4503166">
                  <a:moveTo>
                    <a:pt x="0" y="80645"/>
                  </a:moveTo>
                  <a:cubicBezTo>
                    <a:pt x="0" y="36068"/>
                    <a:pt x="36068" y="0"/>
                    <a:pt x="80645" y="0"/>
                  </a:cubicBezTo>
                  <a:lnTo>
                    <a:pt x="4422521" y="0"/>
                  </a:lnTo>
                  <a:cubicBezTo>
                    <a:pt x="4466971" y="0"/>
                    <a:pt x="4503166" y="36068"/>
                    <a:pt x="4503166" y="80645"/>
                  </a:cubicBezTo>
                  <a:lnTo>
                    <a:pt x="4503166" y="926846"/>
                  </a:lnTo>
                  <a:cubicBezTo>
                    <a:pt x="4503166" y="971296"/>
                    <a:pt x="4467098" y="1007491"/>
                    <a:pt x="4422521" y="1007491"/>
                  </a:cubicBezTo>
                  <a:lnTo>
                    <a:pt x="80645" y="1007491"/>
                  </a:lnTo>
                  <a:cubicBezTo>
                    <a:pt x="36068" y="1007364"/>
                    <a:pt x="0" y="971296"/>
                    <a:pt x="0" y="926846"/>
                  </a:cubicBezTo>
                  <a:close/>
                </a:path>
              </a:pathLst>
            </a:custGeom>
            <a:solidFill>
              <a:srgbClr val="162843"/>
            </a:solidFill>
            <a:ln w="14299" cap="sq">
              <a:solidFill>
                <a:srgbClr val="162843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390936" y="8268024"/>
            <a:ext cx="2900982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Actions on Objectives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918710" y="8213122"/>
            <a:ext cx="11988079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Document the verified user/privilege level or task outcome.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81122" y="9270082"/>
            <a:ext cx="15968824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FFB44B"/>
                </a:solidFill>
                <a:latin typeface="Aptos Bold"/>
                <a:ea typeface="Aptos Bold"/>
                <a:cs typeface="Aptos Bold"/>
                <a:sym typeface="Aptos Bold"/>
              </a:rPr>
              <a:t>Use Observed / Not observed / Not applicable. Do not imply the room covered every college-required phase.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D19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622240"/>
            <a:ext cx="16243363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Defensive Remediation &amp; Hardening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2543" y="1530248"/>
            <a:ext cx="1181071" cy="76067"/>
            <a:chOff x="0" y="0"/>
            <a:chExt cx="1574762" cy="1014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74800" cy="101473"/>
            </a:xfrm>
            <a:custGeom>
              <a:avLst/>
              <a:gdLst/>
              <a:ahLst/>
              <a:cxnLst/>
              <a:rect r="r" b="b" t="t" l="l"/>
              <a:pathLst>
                <a:path h="101473" w="1574800">
                  <a:moveTo>
                    <a:pt x="0" y="0"/>
                  </a:moveTo>
                  <a:lnTo>
                    <a:pt x="1574800" y="0"/>
                  </a:lnTo>
                  <a:lnTo>
                    <a:pt x="1574800" y="101473"/>
                  </a:lnTo>
                  <a:lnTo>
                    <a:pt x="0" y="101473"/>
                  </a:lnTo>
                  <a:close/>
                </a:path>
              </a:pathLst>
            </a:custGeom>
            <a:solidFill>
              <a:srgbClr val="28D2DC"/>
            </a:solid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4321514" y="704602"/>
            <a:ext cx="2997070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09 • DEFENSE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72759" y="9754714"/>
            <a:ext cx="388991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CBCCF"/>
                </a:solidFill>
                <a:latin typeface="Aptos Bold"/>
                <a:ea typeface="Aptos Bold"/>
                <a:cs typeface="Aptos Bold"/>
                <a:sym typeface="Aptos Bold"/>
              </a:rPr>
              <a:t>10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9141" y="9764239"/>
            <a:ext cx="13360746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CYBERSECURITY MAJOR PROJECT  •  AUTHORIZED LAB ONLY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90984" y="2120494"/>
            <a:ext cx="5299091" cy="2759640"/>
            <a:chOff x="0" y="0"/>
            <a:chExt cx="7065454" cy="3679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65518" cy="3679571"/>
            </a:xfrm>
            <a:custGeom>
              <a:avLst/>
              <a:gdLst/>
              <a:ahLst/>
              <a:cxnLst/>
              <a:rect r="r" b="b" t="t" l="l"/>
              <a:pathLst>
                <a:path h="3679571" w="7065518">
                  <a:moveTo>
                    <a:pt x="0" y="294386"/>
                  </a:moveTo>
                  <a:cubicBezTo>
                    <a:pt x="0" y="131826"/>
                    <a:pt x="131826" y="0"/>
                    <a:pt x="294386" y="0"/>
                  </a:cubicBezTo>
                  <a:lnTo>
                    <a:pt x="6771132" y="0"/>
                  </a:lnTo>
                  <a:cubicBezTo>
                    <a:pt x="6933692" y="0"/>
                    <a:pt x="7065518" y="131826"/>
                    <a:pt x="7065518" y="294386"/>
                  </a:cubicBezTo>
                  <a:lnTo>
                    <a:pt x="7065518" y="3385185"/>
                  </a:lnTo>
                  <a:cubicBezTo>
                    <a:pt x="7065518" y="3547745"/>
                    <a:pt x="6933692" y="3679571"/>
                    <a:pt x="6771132" y="3679571"/>
                  </a:cubicBezTo>
                  <a:lnTo>
                    <a:pt x="294386" y="3679571"/>
                  </a:lnTo>
                  <a:cubicBezTo>
                    <a:pt x="131826" y="3679571"/>
                    <a:pt x="0" y="3547745"/>
                    <a:pt x="0" y="3385185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90984" y="2120494"/>
            <a:ext cx="110385" cy="2759640"/>
            <a:chOff x="0" y="0"/>
            <a:chExt cx="147180" cy="3679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7193" cy="3679571"/>
            </a:xfrm>
            <a:custGeom>
              <a:avLst/>
              <a:gdLst/>
              <a:ahLst/>
              <a:cxnLst/>
              <a:rect r="r" b="b" t="t" l="l"/>
              <a:pathLst>
                <a:path h="3679571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3679571"/>
                  </a:lnTo>
                  <a:lnTo>
                    <a:pt x="0" y="3679571"/>
                  </a:lnTo>
                  <a:close/>
                </a:path>
              </a:pathLst>
            </a:custGeom>
            <a:solidFill>
              <a:srgbClr val="28D2DC"/>
            </a:solid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445847" y="2420445"/>
            <a:ext cx="4616825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Service &amp; application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45847" y="3097254"/>
            <a:ext cx="4616825" cy="153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Disable unnecessary services; restrict access to exposed files; validate all input server-side; avoid storing secrets in web-accessible locations.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13043" y="2120494"/>
            <a:ext cx="5299091" cy="2759640"/>
            <a:chOff x="0" y="0"/>
            <a:chExt cx="7065454" cy="3679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65518" cy="3679571"/>
            </a:xfrm>
            <a:custGeom>
              <a:avLst/>
              <a:gdLst/>
              <a:ahLst/>
              <a:cxnLst/>
              <a:rect r="r" b="b" t="t" l="l"/>
              <a:pathLst>
                <a:path h="3679571" w="7065518">
                  <a:moveTo>
                    <a:pt x="0" y="294386"/>
                  </a:moveTo>
                  <a:cubicBezTo>
                    <a:pt x="0" y="131826"/>
                    <a:pt x="131826" y="0"/>
                    <a:pt x="294386" y="0"/>
                  </a:cubicBezTo>
                  <a:lnTo>
                    <a:pt x="6771132" y="0"/>
                  </a:lnTo>
                  <a:cubicBezTo>
                    <a:pt x="6933692" y="0"/>
                    <a:pt x="7065518" y="131826"/>
                    <a:pt x="7065518" y="294386"/>
                  </a:cubicBezTo>
                  <a:lnTo>
                    <a:pt x="7065518" y="3385185"/>
                  </a:lnTo>
                  <a:cubicBezTo>
                    <a:pt x="7065518" y="3547745"/>
                    <a:pt x="6933692" y="3679571"/>
                    <a:pt x="6771132" y="3679571"/>
                  </a:cubicBezTo>
                  <a:lnTo>
                    <a:pt x="294386" y="3679571"/>
                  </a:lnTo>
                  <a:cubicBezTo>
                    <a:pt x="131826" y="3679571"/>
                    <a:pt x="0" y="3547745"/>
                    <a:pt x="0" y="3385185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513043" y="2120494"/>
            <a:ext cx="110385" cy="2759640"/>
            <a:chOff x="0" y="0"/>
            <a:chExt cx="147180" cy="3679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7193" cy="3679571"/>
            </a:xfrm>
            <a:custGeom>
              <a:avLst/>
              <a:gdLst/>
              <a:ahLst/>
              <a:cxnLst/>
              <a:rect r="r" b="b" t="t" l="l"/>
              <a:pathLst>
                <a:path h="3679571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3679571"/>
                  </a:lnTo>
                  <a:lnTo>
                    <a:pt x="0" y="3679571"/>
                  </a:lnTo>
                  <a:close/>
                </a:path>
              </a:pathLst>
            </a:custGeom>
            <a:solidFill>
              <a:srgbClr val="FFB44B"/>
            </a:solidFill>
            <a:ln w="14299" cap="sq">
              <a:solidFill>
                <a:srgbClr val="FFB44B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6867906" y="2420445"/>
            <a:ext cx="4616825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Linux host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67906" y="3097254"/>
            <a:ext cx="4616825" cy="153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Use least privilege; review sudo rules and SUID binaries; patch software; remove unnecessary elevated permissions.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935101" y="2120494"/>
            <a:ext cx="5299091" cy="2759640"/>
            <a:chOff x="0" y="0"/>
            <a:chExt cx="7065454" cy="3679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65518" cy="3679571"/>
            </a:xfrm>
            <a:custGeom>
              <a:avLst/>
              <a:gdLst/>
              <a:ahLst/>
              <a:cxnLst/>
              <a:rect r="r" b="b" t="t" l="l"/>
              <a:pathLst>
                <a:path h="3679571" w="7065518">
                  <a:moveTo>
                    <a:pt x="0" y="294386"/>
                  </a:moveTo>
                  <a:cubicBezTo>
                    <a:pt x="0" y="131826"/>
                    <a:pt x="131826" y="0"/>
                    <a:pt x="294386" y="0"/>
                  </a:cubicBezTo>
                  <a:lnTo>
                    <a:pt x="6771132" y="0"/>
                  </a:lnTo>
                  <a:cubicBezTo>
                    <a:pt x="6933692" y="0"/>
                    <a:pt x="7065518" y="131826"/>
                    <a:pt x="7065518" y="294386"/>
                  </a:cubicBezTo>
                  <a:lnTo>
                    <a:pt x="7065518" y="3385185"/>
                  </a:lnTo>
                  <a:cubicBezTo>
                    <a:pt x="7065518" y="3547745"/>
                    <a:pt x="6933692" y="3679571"/>
                    <a:pt x="6771132" y="3679571"/>
                  </a:cubicBezTo>
                  <a:lnTo>
                    <a:pt x="294386" y="3679571"/>
                  </a:lnTo>
                  <a:cubicBezTo>
                    <a:pt x="131826" y="3679571"/>
                    <a:pt x="0" y="3547745"/>
                    <a:pt x="0" y="3385185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935101" y="2120494"/>
            <a:ext cx="110385" cy="2759640"/>
            <a:chOff x="0" y="0"/>
            <a:chExt cx="147180" cy="3679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7193" cy="3679571"/>
            </a:xfrm>
            <a:custGeom>
              <a:avLst/>
              <a:gdLst/>
              <a:ahLst/>
              <a:cxnLst/>
              <a:rect r="r" b="b" t="t" l="l"/>
              <a:pathLst>
                <a:path h="3679571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3679571"/>
                  </a:lnTo>
                  <a:lnTo>
                    <a:pt x="0" y="3679571"/>
                  </a:lnTo>
                  <a:close/>
                </a:path>
              </a:pathLst>
            </a:custGeom>
            <a:solidFill>
              <a:srgbClr val="5AD29B"/>
            </a:solidFill>
            <a:ln w="14299" cap="sq">
              <a:solidFill>
                <a:srgbClr val="5AD29B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2289955" y="2420445"/>
            <a:ext cx="4616825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Monitoring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89955" y="3097254"/>
            <a:ext cx="4616825" cy="153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Monitor authentication failures, unusual service access and privilege changes; protect and review logs.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2494" y="5742308"/>
            <a:ext cx="8830932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Defensive checklist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08554" y="6387446"/>
            <a:ext cx="15502166" cy="2283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5F8FC"/>
                </a:solidFill>
                <a:latin typeface="Aptos"/>
                <a:ea typeface="Aptos"/>
                <a:cs typeface="Aptos"/>
                <a:sym typeface="Aptos"/>
              </a:rPr>
              <a:t>•  Disable anonymous access where not needed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D19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622240"/>
            <a:ext cx="16243363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Evidence Archive &amp; Submission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2543" y="1530248"/>
            <a:ext cx="1181071" cy="76067"/>
            <a:chOff x="0" y="0"/>
            <a:chExt cx="1574762" cy="1014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74800" cy="101473"/>
            </a:xfrm>
            <a:custGeom>
              <a:avLst/>
              <a:gdLst/>
              <a:ahLst/>
              <a:cxnLst/>
              <a:rect r="r" b="b" t="t" l="l"/>
              <a:pathLst>
                <a:path h="101473" w="1574800">
                  <a:moveTo>
                    <a:pt x="0" y="0"/>
                  </a:moveTo>
                  <a:lnTo>
                    <a:pt x="1574800" y="0"/>
                  </a:lnTo>
                  <a:lnTo>
                    <a:pt x="1574800" y="101473"/>
                  </a:lnTo>
                  <a:lnTo>
                    <a:pt x="0" y="101473"/>
                  </a:lnTo>
                  <a:close/>
                </a:path>
              </a:pathLst>
            </a:custGeom>
            <a:solidFill>
              <a:srgbClr val="28D2DC"/>
            </a:solid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4321514" y="704602"/>
            <a:ext cx="2997070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10 • DELIVERABLES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72759" y="9754714"/>
            <a:ext cx="388991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CBCCF"/>
                </a:solidFill>
                <a:latin typeface="Aptos Bold"/>
                <a:ea typeface="Aptos Bold"/>
                <a:cs typeface="Aptos Bold"/>
                <a:sym typeface="Aptos Bold"/>
              </a:rPr>
              <a:t>11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9141" y="9764239"/>
            <a:ext cx="13360746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CYBERSECURITY MAJOR PROJECT  •  AUTHORIZED LAB ONLY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90984" y="2189131"/>
            <a:ext cx="7838532" cy="2828277"/>
            <a:chOff x="0" y="0"/>
            <a:chExt cx="10451376" cy="37710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51338" cy="3771011"/>
            </a:xfrm>
            <a:custGeom>
              <a:avLst/>
              <a:gdLst/>
              <a:ahLst/>
              <a:cxnLst/>
              <a:rect r="r" b="b" t="t" l="l"/>
              <a:pathLst>
                <a:path h="3771011" w="10451338">
                  <a:moveTo>
                    <a:pt x="0" y="301625"/>
                  </a:moveTo>
                  <a:cubicBezTo>
                    <a:pt x="0" y="135128"/>
                    <a:pt x="135128" y="0"/>
                    <a:pt x="301625" y="0"/>
                  </a:cubicBezTo>
                  <a:lnTo>
                    <a:pt x="10149713" y="0"/>
                  </a:lnTo>
                  <a:cubicBezTo>
                    <a:pt x="10316337" y="0"/>
                    <a:pt x="10451338" y="135128"/>
                    <a:pt x="10451338" y="301625"/>
                  </a:cubicBezTo>
                  <a:lnTo>
                    <a:pt x="10451338" y="3469386"/>
                  </a:lnTo>
                  <a:cubicBezTo>
                    <a:pt x="10451338" y="3636010"/>
                    <a:pt x="10316210" y="3771011"/>
                    <a:pt x="10149713" y="3771011"/>
                  </a:cubicBezTo>
                  <a:lnTo>
                    <a:pt x="301625" y="3771011"/>
                  </a:lnTo>
                  <a:cubicBezTo>
                    <a:pt x="135128" y="3771011"/>
                    <a:pt x="0" y="3636010"/>
                    <a:pt x="0" y="3469386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90984" y="2189131"/>
            <a:ext cx="110385" cy="2828277"/>
            <a:chOff x="0" y="0"/>
            <a:chExt cx="147180" cy="37710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7193" cy="3771011"/>
            </a:xfrm>
            <a:custGeom>
              <a:avLst/>
              <a:gdLst/>
              <a:ahLst/>
              <a:cxnLst/>
              <a:rect r="r" b="b" t="t" l="l"/>
              <a:pathLst>
                <a:path h="3771011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3771011"/>
                  </a:lnTo>
                  <a:lnTo>
                    <a:pt x="0" y="3771011"/>
                  </a:lnTo>
                  <a:close/>
                </a:path>
              </a:pathLst>
            </a:custGeom>
            <a:solidFill>
              <a:srgbClr val="28D2DC"/>
            </a:solid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445847" y="2489073"/>
            <a:ext cx="7156266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Google Sheets — Evidence Archive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45847" y="3165891"/>
            <a:ext cx="7156266" cy="1606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• Scan logs and notes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• Screenshots with captions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• Commands and actual outputs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• Link to the final report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327023" y="2189131"/>
            <a:ext cx="7838532" cy="2828277"/>
            <a:chOff x="0" y="0"/>
            <a:chExt cx="10451376" cy="37710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51338" cy="3771011"/>
            </a:xfrm>
            <a:custGeom>
              <a:avLst/>
              <a:gdLst/>
              <a:ahLst/>
              <a:cxnLst/>
              <a:rect r="r" b="b" t="t" l="l"/>
              <a:pathLst>
                <a:path h="3771011" w="10451338">
                  <a:moveTo>
                    <a:pt x="0" y="301625"/>
                  </a:moveTo>
                  <a:cubicBezTo>
                    <a:pt x="0" y="135128"/>
                    <a:pt x="135128" y="0"/>
                    <a:pt x="301625" y="0"/>
                  </a:cubicBezTo>
                  <a:lnTo>
                    <a:pt x="10149713" y="0"/>
                  </a:lnTo>
                  <a:cubicBezTo>
                    <a:pt x="10316337" y="0"/>
                    <a:pt x="10451338" y="135128"/>
                    <a:pt x="10451338" y="301625"/>
                  </a:cubicBezTo>
                  <a:lnTo>
                    <a:pt x="10451338" y="3469386"/>
                  </a:lnTo>
                  <a:cubicBezTo>
                    <a:pt x="10451338" y="3636010"/>
                    <a:pt x="10316210" y="3771011"/>
                    <a:pt x="10149713" y="3771011"/>
                  </a:cubicBezTo>
                  <a:lnTo>
                    <a:pt x="301625" y="3771011"/>
                  </a:lnTo>
                  <a:cubicBezTo>
                    <a:pt x="135128" y="3771011"/>
                    <a:pt x="0" y="3636010"/>
                    <a:pt x="0" y="3469386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327023" y="2189131"/>
            <a:ext cx="110385" cy="2828277"/>
            <a:chOff x="0" y="0"/>
            <a:chExt cx="147180" cy="37710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7193" cy="3771011"/>
            </a:xfrm>
            <a:custGeom>
              <a:avLst/>
              <a:gdLst/>
              <a:ahLst/>
              <a:cxnLst/>
              <a:rect r="r" b="b" t="t" l="l"/>
              <a:pathLst>
                <a:path h="3771011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3771011"/>
                  </a:lnTo>
                  <a:lnTo>
                    <a:pt x="0" y="3771011"/>
                  </a:lnTo>
                  <a:close/>
                </a:path>
              </a:pathLst>
            </a:custGeom>
            <a:solidFill>
              <a:srgbClr val="FFB44B"/>
            </a:solidFill>
            <a:ln w="14299" cap="sq">
              <a:solidFill>
                <a:srgbClr val="FFB44B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681877" y="2489073"/>
            <a:ext cx="7156266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PDF — Project Report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81877" y="3165891"/>
            <a:ext cx="7156266" cy="1606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• Executive summary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• Findings and evidence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• Cyber Kill Chain mapping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• Defensive recommendations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1122" y="5742308"/>
            <a:ext cx="2928442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Required details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8554" y="6318809"/>
            <a:ext cx="15502166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5F8FC"/>
                </a:solidFill>
                <a:latin typeface="Aptos"/>
                <a:ea typeface="Aptos"/>
                <a:cs typeface="Aptos"/>
                <a:sym typeface="Aptos"/>
              </a:rPr>
              <a:t>•  TryHackMe profile: https://tryhackme.com/p/nikhil7509227819?utm_campaign=social_share&amp;utm_medium=social&amp;utm_content=profile&amp;utm_source=copy&amp;cardVersion=10927bd50b8b&amp;sharerId=69ddc93e3c963b7609ab8956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1122" y="8968092"/>
            <a:ext cx="1569429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B44B"/>
                </a:solidFill>
                <a:latin typeface="Aptos Bold"/>
                <a:ea typeface="Aptos Bold"/>
                <a:cs typeface="Aptos Bold"/>
                <a:sym typeface="Aptos Bold"/>
              </a:rPr>
              <a:t>Verify link permissions before submission. Never include passwords, tokens or private information.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D19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622240"/>
            <a:ext cx="16243363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Conclusion &amp; Learning Outcomes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2543" y="1530248"/>
            <a:ext cx="1181071" cy="76067"/>
            <a:chOff x="0" y="0"/>
            <a:chExt cx="1574762" cy="1014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74800" cy="101473"/>
            </a:xfrm>
            <a:custGeom>
              <a:avLst/>
              <a:gdLst/>
              <a:ahLst/>
              <a:cxnLst/>
              <a:rect r="r" b="b" t="t" l="l"/>
              <a:pathLst>
                <a:path h="101473" w="1574800">
                  <a:moveTo>
                    <a:pt x="0" y="0"/>
                  </a:moveTo>
                  <a:lnTo>
                    <a:pt x="1574800" y="0"/>
                  </a:lnTo>
                  <a:lnTo>
                    <a:pt x="1574800" y="101473"/>
                  </a:lnTo>
                  <a:lnTo>
                    <a:pt x="0" y="101473"/>
                  </a:lnTo>
                  <a:close/>
                </a:path>
              </a:pathLst>
            </a:custGeom>
            <a:solidFill>
              <a:srgbClr val="28D2DC"/>
            </a:solid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4321514" y="704602"/>
            <a:ext cx="2997070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11 • 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72759" y="9754714"/>
            <a:ext cx="388991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CBCCF"/>
                </a:solidFill>
                <a:latin typeface="Aptos Bold"/>
                <a:ea typeface="Aptos Bold"/>
                <a:cs typeface="Aptos Bold"/>
                <a:sym typeface="Aptos Bold"/>
              </a:rPr>
              <a:t>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9141" y="9764239"/>
            <a:ext cx="13360746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CYBERSECURITY MAJOR PROJECT  •  AUTHORIZED LAB ONLY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2494" y="2173367"/>
            <a:ext cx="15694295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F5F8FC"/>
                </a:solidFill>
                <a:latin typeface="Aptos"/>
                <a:ea typeface="Aptos"/>
                <a:cs typeface="Aptos"/>
                <a:sym typeface="Aptos"/>
              </a:rPr>
              <a:t>Bounty Hacker offers practical experience in service enumeration, access validation and Linux privilege review. The value of the assessment is in clear evidence and useful defensive recommendations.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59621" y="3904964"/>
            <a:ext cx="5161817" cy="2828277"/>
            <a:chOff x="0" y="0"/>
            <a:chExt cx="6882422" cy="37710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82384" cy="3771011"/>
            </a:xfrm>
            <a:custGeom>
              <a:avLst/>
              <a:gdLst/>
              <a:ahLst/>
              <a:cxnLst/>
              <a:rect r="r" b="b" t="t" l="l"/>
              <a:pathLst>
                <a:path h="3771011" w="6882384">
                  <a:moveTo>
                    <a:pt x="0" y="301625"/>
                  </a:moveTo>
                  <a:cubicBezTo>
                    <a:pt x="0" y="135128"/>
                    <a:pt x="135128" y="0"/>
                    <a:pt x="301625" y="0"/>
                  </a:cubicBezTo>
                  <a:lnTo>
                    <a:pt x="6580759" y="0"/>
                  </a:lnTo>
                  <a:cubicBezTo>
                    <a:pt x="6747383" y="0"/>
                    <a:pt x="6882384" y="135128"/>
                    <a:pt x="6882384" y="301625"/>
                  </a:cubicBezTo>
                  <a:lnTo>
                    <a:pt x="6882384" y="3469386"/>
                  </a:lnTo>
                  <a:cubicBezTo>
                    <a:pt x="6882384" y="3636010"/>
                    <a:pt x="6747256" y="3771011"/>
                    <a:pt x="6580759" y="3771011"/>
                  </a:cubicBezTo>
                  <a:lnTo>
                    <a:pt x="301625" y="3771011"/>
                  </a:lnTo>
                  <a:cubicBezTo>
                    <a:pt x="135128" y="3771011"/>
                    <a:pt x="0" y="3636010"/>
                    <a:pt x="0" y="3469386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59621" y="3904964"/>
            <a:ext cx="110385" cy="2828277"/>
            <a:chOff x="0" y="0"/>
            <a:chExt cx="147180" cy="37710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7193" cy="3771011"/>
            </a:xfrm>
            <a:custGeom>
              <a:avLst/>
              <a:gdLst/>
              <a:ahLst/>
              <a:cxnLst/>
              <a:rect r="r" b="b" t="t" l="l"/>
              <a:pathLst>
                <a:path h="3771011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3771011"/>
                  </a:lnTo>
                  <a:lnTo>
                    <a:pt x="0" y="3771011"/>
                  </a:lnTo>
                  <a:close/>
                </a:path>
              </a:pathLst>
            </a:custGeom>
            <a:solidFill>
              <a:srgbClr val="28D2DC"/>
            </a:solidFill>
            <a:ln w="14299" cap="sq">
              <a:solidFill>
                <a:srgbClr val="28D2DC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514475" y="4204916"/>
            <a:ext cx="4479560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Technical skills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4475" y="4881724"/>
            <a:ext cx="4479560" cy="1606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Build a repeatable workflow for enumeration and evidence capture.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81680" y="3904964"/>
            <a:ext cx="5161817" cy="2828277"/>
            <a:chOff x="0" y="0"/>
            <a:chExt cx="6882422" cy="37710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82384" cy="3771011"/>
            </a:xfrm>
            <a:custGeom>
              <a:avLst/>
              <a:gdLst/>
              <a:ahLst/>
              <a:cxnLst/>
              <a:rect r="r" b="b" t="t" l="l"/>
              <a:pathLst>
                <a:path h="3771011" w="6882384">
                  <a:moveTo>
                    <a:pt x="0" y="301625"/>
                  </a:moveTo>
                  <a:cubicBezTo>
                    <a:pt x="0" y="135128"/>
                    <a:pt x="135128" y="0"/>
                    <a:pt x="301625" y="0"/>
                  </a:cubicBezTo>
                  <a:lnTo>
                    <a:pt x="6580759" y="0"/>
                  </a:lnTo>
                  <a:cubicBezTo>
                    <a:pt x="6747383" y="0"/>
                    <a:pt x="6882384" y="135128"/>
                    <a:pt x="6882384" y="301625"/>
                  </a:cubicBezTo>
                  <a:lnTo>
                    <a:pt x="6882384" y="3469386"/>
                  </a:lnTo>
                  <a:cubicBezTo>
                    <a:pt x="6882384" y="3636010"/>
                    <a:pt x="6747256" y="3771011"/>
                    <a:pt x="6580759" y="3771011"/>
                  </a:cubicBezTo>
                  <a:lnTo>
                    <a:pt x="301625" y="3771011"/>
                  </a:lnTo>
                  <a:cubicBezTo>
                    <a:pt x="135128" y="3771011"/>
                    <a:pt x="0" y="3636010"/>
                    <a:pt x="0" y="3469386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581680" y="3904964"/>
            <a:ext cx="110385" cy="2828277"/>
            <a:chOff x="0" y="0"/>
            <a:chExt cx="147180" cy="37710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7193" cy="3771011"/>
            </a:xfrm>
            <a:custGeom>
              <a:avLst/>
              <a:gdLst/>
              <a:ahLst/>
              <a:cxnLst/>
              <a:rect r="r" b="b" t="t" l="l"/>
              <a:pathLst>
                <a:path h="3771011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3771011"/>
                  </a:lnTo>
                  <a:lnTo>
                    <a:pt x="0" y="3771011"/>
                  </a:lnTo>
                  <a:close/>
                </a:path>
              </a:pathLst>
            </a:custGeom>
            <a:solidFill>
              <a:srgbClr val="FFB44B"/>
            </a:solidFill>
            <a:ln w="14299" cap="sq">
              <a:solidFill>
                <a:srgbClr val="FFB44B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6936534" y="4204916"/>
            <a:ext cx="4479560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Responsible testing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36534" y="4881724"/>
            <a:ext cx="4479560" cy="1606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Stay within scope and separate verified findings from assumptions.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03738" y="3904964"/>
            <a:ext cx="5161817" cy="2828277"/>
            <a:chOff x="0" y="0"/>
            <a:chExt cx="6882422" cy="37710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82384" cy="3771011"/>
            </a:xfrm>
            <a:custGeom>
              <a:avLst/>
              <a:gdLst/>
              <a:ahLst/>
              <a:cxnLst/>
              <a:rect r="r" b="b" t="t" l="l"/>
              <a:pathLst>
                <a:path h="3771011" w="6882384">
                  <a:moveTo>
                    <a:pt x="0" y="301625"/>
                  </a:moveTo>
                  <a:cubicBezTo>
                    <a:pt x="0" y="135128"/>
                    <a:pt x="135128" y="0"/>
                    <a:pt x="301625" y="0"/>
                  </a:cubicBezTo>
                  <a:lnTo>
                    <a:pt x="6580759" y="0"/>
                  </a:lnTo>
                  <a:cubicBezTo>
                    <a:pt x="6747383" y="0"/>
                    <a:pt x="6882384" y="135128"/>
                    <a:pt x="6882384" y="301625"/>
                  </a:cubicBezTo>
                  <a:lnTo>
                    <a:pt x="6882384" y="3469386"/>
                  </a:lnTo>
                  <a:cubicBezTo>
                    <a:pt x="6882384" y="3636010"/>
                    <a:pt x="6747256" y="3771011"/>
                    <a:pt x="6580759" y="3771011"/>
                  </a:cubicBezTo>
                  <a:lnTo>
                    <a:pt x="301625" y="3771011"/>
                  </a:lnTo>
                  <a:cubicBezTo>
                    <a:pt x="135128" y="3771011"/>
                    <a:pt x="0" y="3636010"/>
                    <a:pt x="0" y="3469386"/>
                  </a:cubicBezTo>
                  <a:close/>
                </a:path>
              </a:pathLst>
            </a:custGeom>
            <a:solidFill>
              <a:srgbClr val="1C2F4A"/>
            </a:solidFill>
            <a:ln w="14299" cap="sq">
              <a:solidFill>
                <a:srgbClr val="1C2F4A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2003738" y="3904964"/>
            <a:ext cx="110385" cy="2828277"/>
            <a:chOff x="0" y="0"/>
            <a:chExt cx="147180" cy="37710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7193" cy="3771011"/>
            </a:xfrm>
            <a:custGeom>
              <a:avLst/>
              <a:gdLst/>
              <a:ahLst/>
              <a:cxnLst/>
              <a:rect r="r" b="b" t="t" l="l"/>
              <a:pathLst>
                <a:path h="3771011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3771011"/>
                  </a:lnTo>
                  <a:lnTo>
                    <a:pt x="0" y="3771011"/>
                  </a:lnTo>
                  <a:close/>
                </a:path>
              </a:pathLst>
            </a:custGeom>
            <a:solidFill>
              <a:srgbClr val="5AD29B"/>
            </a:solidFill>
            <a:ln w="14299" cap="sq">
              <a:solidFill>
                <a:srgbClr val="5AD29B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2358592" y="4204916"/>
            <a:ext cx="4479560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Defensive value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58592" y="4881724"/>
            <a:ext cx="4479560" cy="1606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Turn lab observations into prioritized security controls.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1122" y="7664053"/>
            <a:ext cx="7046452" cy="80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28D2DC"/>
                </a:solidFill>
                <a:latin typeface="Aptos Bold"/>
                <a:ea typeface="Aptos Bold"/>
                <a:cs typeface="Aptos Bold"/>
                <a:sym typeface="Aptos Bold"/>
              </a:rPr>
              <a:t>Thank You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49759" y="8556288"/>
            <a:ext cx="6771923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Questions &amp; Discussion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54426" y="8762190"/>
            <a:ext cx="7320991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ACBCCF"/>
                </a:solidFill>
                <a:latin typeface="Aptos"/>
                <a:ea typeface="Aptos"/>
                <a:cs typeface="Aptos"/>
                <a:sym typeface="Aptos"/>
              </a:rPr>
              <a:t>TryHackMe profile: [Add your profile URL]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D19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D19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DAHYm58uYCo</dc:identifier>
  <dcterms:modified xsi:type="dcterms:W3CDTF">2011-08-01T06:04:30Z</dcterms:modified>
  <cp:revision>1</cp:revision>
  <dc:title>Bounty_Hacker_Project_Presentation_Updated_Content.pptx</dc:title>
</cp:coreProperties>
</file>